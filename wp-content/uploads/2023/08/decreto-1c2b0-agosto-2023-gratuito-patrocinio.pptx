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9"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04" autoAdjust="0"/>
    <p:restoredTop sz="97386" autoAdjust="0"/>
  </p:normalViewPr>
  <p:slideViewPr>
    <p:cSldViewPr snapToGrid="0">
      <p:cViewPr varScale="1">
        <p:scale>
          <a:sx n="155" d="100"/>
          <a:sy n="155" d="100"/>
        </p:scale>
        <p:origin x="2676" y="138"/>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28EE54-A4B4-4349-B8BD-8FAA33B1A644}" type="datetimeFigureOut">
              <a:rPr lang="it-IT" smtClean="0"/>
              <a:t>10/08/2023</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7B76BE-905D-4EDF-8F45-AB1C3D8A58E9}" type="slidenum">
              <a:rPr lang="it-IT" smtClean="0"/>
              <a:t>‹N›</a:t>
            </a:fld>
            <a:endParaRPr lang="it-IT"/>
          </a:p>
        </p:txBody>
      </p:sp>
    </p:spTree>
    <p:extLst>
      <p:ext uri="{BB962C8B-B14F-4D97-AF65-F5344CB8AC3E}">
        <p14:creationId xmlns:p14="http://schemas.microsoft.com/office/powerpoint/2010/main" val="2199861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756FB-E05E-443F-88A1-CFC90638997C}"/>
              </a:ext>
            </a:extLst>
          </p:cNvPr>
          <p:cNvSpPr>
            <a:spLocks noGrp="1"/>
          </p:cNvSpPr>
          <p:nvPr>
            <p:ph type="ctrTitle"/>
          </p:nvPr>
        </p:nvSpPr>
        <p:spPr>
          <a:xfrm>
            <a:off x="1084727" y="1597961"/>
            <a:ext cx="9144000" cy="31623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3C5DA97A-281B-4A77-9D2C-C5E6A860E645}"/>
              </a:ext>
            </a:extLst>
          </p:cNvPr>
          <p:cNvSpPr>
            <a:spLocks noGrp="1"/>
          </p:cNvSpPr>
          <p:nvPr>
            <p:ph type="subTitle" idx="1"/>
          </p:nvPr>
        </p:nvSpPr>
        <p:spPr>
          <a:xfrm>
            <a:off x="1084727" y="4902488"/>
            <a:ext cx="9144000" cy="985075"/>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FD7BAE-E194-4223-BB4E-5E487863F5BE}"/>
              </a:ext>
            </a:extLst>
          </p:cNvPr>
          <p:cNvSpPr>
            <a:spLocks noGrp="1"/>
          </p:cNvSpPr>
          <p:nvPr>
            <p:ph type="dt" sz="half" idx="10"/>
          </p:nvPr>
        </p:nvSpPr>
        <p:spPr/>
        <p:txBody>
          <a:bodyPr/>
          <a:lstStyle/>
          <a:p>
            <a:fld id="{282628CE-6738-4171-9B18-EA1E8B53F085}" type="datetime1">
              <a:rPr lang="en-US" smtClean="0"/>
              <a:t>8/10/2023</a:t>
            </a:fld>
            <a:endParaRPr lang="en-US" dirty="0"/>
          </a:p>
        </p:txBody>
      </p:sp>
      <p:sp>
        <p:nvSpPr>
          <p:cNvPr id="5" name="Footer Placeholder 4">
            <a:extLst>
              <a:ext uri="{FF2B5EF4-FFF2-40B4-BE49-F238E27FC236}">
                <a16:creationId xmlns:a16="http://schemas.microsoft.com/office/drawing/2014/main" id="{9721F6C9-7279-4DF8-9462-3EFEFA03FB58}"/>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lide Number Placeholder 5">
            <a:extLst>
              <a:ext uri="{FF2B5EF4-FFF2-40B4-BE49-F238E27FC236}">
                <a16:creationId xmlns:a16="http://schemas.microsoft.com/office/drawing/2014/main" id="{BC457072-0A38-49AD-8D0D-0E42DD488E4F}"/>
              </a:ext>
            </a:extLst>
          </p:cNvPr>
          <p:cNvSpPr>
            <a:spLocks noGrp="1"/>
          </p:cNvSpPr>
          <p:nvPr>
            <p:ph type="sldNum" sz="quarter" idx="12"/>
          </p:nvPr>
        </p:nvSpPr>
        <p:spPr/>
        <p:txBody>
          <a:bodyPr/>
          <a:lstStyle/>
          <a:p>
            <a:fld id="{5DEF7F31-0B8A-474A-B86C-91F381754329}" type="slidenum">
              <a:rPr lang="en-US" smtClean="0"/>
              <a:t>‹N›</a:t>
            </a:fld>
            <a:endParaRPr lang="en-US" dirty="0"/>
          </a:p>
        </p:txBody>
      </p:sp>
    </p:spTree>
    <p:extLst>
      <p:ext uri="{BB962C8B-B14F-4D97-AF65-F5344CB8AC3E}">
        <p14:creationId xmlns:p14="http://schemas.microsoft.com/office/powerpoint/2010/main" val="1749360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98199-C6CF-4DFF-A750-435F06CC74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F2D5EB-F993-411F-9DBA-971321FC00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A5D216-27F9-4078-8349-ABC9F614A5E7}"/>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Footer Placeholder 4">
            <a:extLst>
              <a:ext uri="{FF2B5EF4-FFF2-40B4-BE49-F238E27FC236}">
                <a16:creationId xmlns:a16="http://schemas.microsoft.com/office/drawing/2014/main" id="{4384F8A8-FBA7-4F25-ADEA-AF346495DEA1}"/>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lide Number Placeholder 5">
            <a:extLst>
              <a:ext uri="{FF2B5EF4-FFF2-40B4-BE49-F238E27FC236}">
                <a16:creationId xmlns:a16="http://schemas.microsoft.com/office/drawing/2014/main" id="{2F4609F8-5897-4724-8FA6-3EFDE8F2DD79}"/>
              </a:ext>
            </a:extLst>
          </p:cNvPr>
          <p:cNvSpPr>
            <a:spLocks noGrp="1"/>
          </p:cNvSpPr>
          <p:nvPr>
            <p:ph type="sldNum" sz="quarter" idx="12"/>
          </p:nvPr>
        </p:nvSpPr>
        <p:spPr/>
        <p:txBody>
          <a:bodyPr/>
          <a:lstStyle/>
          <a:p>
            <a:fld id="{5DEF7F31-0B8A-474A-B86C-91F381754329}" type="slidenum">
              <a:rPr lang="en-US" smtClean="0"/>
              <a:t>‹N›</a:t>
            </a:fld>
            <a:endParaRPr lang="en-US"/>
          </a:p>
        </p:txBody>
      </p:sp>
    </p:spTree>
    <p:extLst>
      <p:ext uri="{BB962C8B-B14F-4D97-AF65-F5344CB8AC3E}">
        <p14:creationId xmlns:p14="http://schemas.microsoft.com/office/powerpoint/2010/main" val="308812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C0F0C-7BA8-490D-B4C9-CCE145DCD19A}"/>
              </a:ext>
            </a:extLst>
          </p:cNvPr>
          <p:cNvSpPr>
            <a:spLocks noGrp="1"/>
          </p:cNvSpPr>
          <p:nvPr>
            <p:ph type="title"/>
          </p:nvPr>
        </p:nvSpPr>
        <p:spPr>
          <a:xfrm>
            <a:off x="1084726" y="1709738"/>
            <a:ext cx="9143999" cy="3050523"/>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290E61-B837-4BE4-9BC7-6AF706BCCA42}"/>
              </a:ext>
            </a:extLst>
          </p:cNvPr>
          <p:cNvSpPr>
            <a:spLocks noGrp="1"/>
          </p:cNvSpPr>
          <p:nvPr>
            <p:ph type="body" idx="1"/>
          </p:nvPr>
        </p:nvSpPr>
        <p:spPr>
          <a:xfrm>
            <a:off x="1084726" y="4902488"/>
            <a:ext cx="9143999" cy="9850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52E15F-E46D-44C6-9FB9-07B0BC545AEF}"/>
              </a:ext>
            </a:extLst>
          </p:cNvPr>
          <p:cNvSpPr>
            <a:spLocks noGrp="1"/>
          </p:cNvSpPr>
          <p:nvPr>
            <p:ph type="dt" sz="half" idx="10"/>
          </p:nvPr>
        </p:nvSpPr>
        <p:spPr/>
        <p:txBody>
          <a:bodyPr/>
          <a:lstStyle/>
          <a:p>
            <a:fld id="{31ED7FA8-D037-4E5C-9F18-DACA59F2BA1C}" type="datetime1">
              <a:rPr lang="en-US" smtClean="0"/>
              <a:t>8/10/2023</a:t>
            </a:fld>
            <a:endParaRPr lang="en-US"/>
          </a:p>
        </p:txBody>
      </p:sp>
      <p:sp>
        <p:nvSpPr>
          <p:cNvPr id="5" name="Footer Placeholder 4">
            <a:extLst>
              <a:ext uri="{FF2B5EF4-FFF2-40B4-BE49-F238E27FC236}">
                <a16:creationId xmlns:a16="http://schemas.microsoft.com/office/drawing/2014/main" id="{2EBF6955-3667-4857-B35A-9E12F7988608}"/>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lide Number Placeholder 5">
            <a:extLst>
              <a:ext uri="{FF2B5EF4-FFF2-40B4-BE49-F238E27FC236}">
                <a16:creationId xmlns:a16="http://schemas.microsoft.com/office/drawing/2014/main" id="{3114B309-D15E-4FA1-9B8D-8C1F3B56C375}"/>
              </a:ext>
            </a:extLst>
          </p:cNvPr>
          <p:cNvSpPr>
            <a:spLocks noGrp="1"/>
          </p:cNvSpPr>
          <p:nvPr>
            <p:ph type="sldNum" sz="quarter" idx="12"/>
          </p:nvPr>
        </p:nvSpPr>
        <p:spPr/>
        <p:txBody>
          <a:bodyPr/>
          <a:lstStyle/>
          <a:p>
            <a:fld id="{5DEF7F31-0B8A-474A-B86C-91F381754329}" type="slidenum">
              <a:rPr lang="en-US" smtClean="0"/>
              <a:t>‹N›</a:t>
            </a:fld>
            <a:endParaRPr lang="en-US"/>
          </a:p>
        </p:txBody>
      </p:sp>
    </p:spTree>
    <p:extLst>
      <p:ext uri="{BB962C8B-B14F-4D97-AF65-F5344CB8AC3E}">
        <p14:creationId xmlns:p14="http://schemas.microsoft.com/office/powerpoint/2010/main" val="2088529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219AB-91F9-4F80-9B5D-2E6FE925F0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19F334-D0CF-4DFD-BAA9-3ECD639B1F1E}"/>
              </a:ext>
            </a:extLst>
          </p:cNvPr>
          <p:cNvSpPr>
            <a:spLocks noGrp="1"/>
          </p:cNvSpPr>
          <p:nvPr>
            <p:ph sz="half" idx="1"/>
          </p:nvPr>
        </p:nvSpPr>
        <p:spPr>
          <a:xfrm>
            <a:off x="1077362" y="2227809"/>
            <a:ext cx="4942438" cy="3949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5E0B5D-4613-4DA7-BA20-58B19BE8A496}"/>
              </a:ext>
            </a:extLst>
          </p:cNvPr>
          <p:cNvSpPr>
            <a:spLocks noGrp="1"/>
          </p:cNvSpPr>
          <p:nvPr>
            <p:ph sz="half" idx="2"/>
          </p:nvPr>
        </p:nvSpPr>
        <p:spPr>
          <a:xfrm>
            <a:off x="6172200" y="2227809"/>
            <a:ext cx="4855265" cy="39491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F311AB-0603-424D-BC42-0CEAB3562BA4}"/>
              </a:ext>
            </a:extLst>
          </p:cNvPr>
          <p:cNvSpPr>
            <a:spLocks noGrp="1"/>
          </p:cNvSpPr>
          <p:nvPr>
            <p:ph type="dt" sz="half" idx="10"/>
          </p:nvPr>
        </p:nvSpPr>
        <p:spPr/>
        <p:txBody>
          <a:bodyPr/>
          <a:lstStyle/>
          <a:p>
            <a:fld id="{82051B79-F5D2-437B-8AD4-41D1812A1D3C}" type="datetime1">
              <a:rPr lang="en-US" smtClean="0"/>
              <a:t>8/10/2023</a:t>
            </a:fld>
            <a:endParaRPr lang="en-US"/>
          </a:p>
        </p:txBody>
      </p:sp>
      <p:sp>
        <p:nvSpPr>
          <p:cNvPr id="6" name="Footer Placeholder 5">
            <a:extLst>
              <a:ext uri="{FF2B5EF4-FFF2-40B4-BE49-F238E27FC236}">
                <a16:creationId xmlns:a16="http://schemas.microsoft.com/office/drawing/2014/main" id="{7A3AA2AC-0C5F-4835-BE47-D780C29890E2}"/>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7" name="Slide Number Placeholder 6">
            <a:extLst>
              <a:ext uri="{FF2B5EF4-FFF2-40B4-BE49-F238E27FC236}">
                <a16:creationId xmlns:a16="http://schemas.microsoft.com/office/drawing/2014/main" id="{906C54C0-DFDA-4778-9EE8-5E5C30E05412}"/>
              </a:ext>
            </a:extLst>
          </p:cNvPr>
          <p:cNvSpPr>
            <a:spLocks noGrp="1"/>
          </p:cNvSpPr>
          <p:nvPr>
            <p:ph type="sldNum" sz="quarter" idx="12"/>
          </p:nvPr>
        </p:nvSpPr>
        <p:spPr/>
        <p:txBody>
          <a:bodyPr/>
          <a:lstStyle/>
          <a:p>
            <a:fld id="{5DEF7F31-0B8A-474A-B86C-91F381754329}" type="slidenum">
              <a:rPr lang="en-US" smtClean="0"/>
              <a:t>‹N›</a:t>
            </a:fld>
            <a:endParaRPr lang="en-US"/>
          </a:p>
        </p:txBody>
      </p:sp>
    </p:spTree>
    <p:extLst>
      <p:ext uri="{BB962C8B-B14F-4D97-AF65-F5344CB8AC3E}">
        <p14:creationId xmlns:p14="http://schemas.microsoft.com/office/powerpoint/2010/main" val="2419031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F3603-5B09-4916-8324-A6BDAB4E060E}"/>
              </a:ext>
            </a:extLst>
          </p:cNvPr>
          <p:cNvSpPr>
            <a:spLocks noGrp="1"/>
          </p:cNvSpPr>
          <p:nvPr>
            <p:ph type="title"/>
          </p:nvPr>
        </p:nvSpPr>
        <p:spPr>
          <a:xfrm>
            <a:off x="1084726" y="365125"/>
            <a:ext cx="9942739"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74073C-C15B-4218-9B84-6758955176E7}"/>
              </a:ext>
            </a:extLst>
          </p:cNvPr>
          <p:cNvSpPr>
            <a:spLocks noGrp="1"/>
          </p:cNvSpPr>
          <p:nvPr>
            <p:ph type="body" idx="1"/>
          </p:nvPr>
        </p:nvSpPr>
        <p:spPr>
          <a:xfrm>
            <a:off x="1084725" y="1681163"/>
            <a:ext cx="49128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116D27-36F6-440B-A9BE-8B9499047CEF}"/>
              </a:ext>
            </a:extLst>
          </p:cNvPr>
          <p:cNvSpPr>
            <a:spLocks noGrp="1"/>
          </p:cNvSpPr>
          <p:nvPr>
            <p:ph sz="half" idx="2"/>
          </p:nvPr>
        </p:nvSpPr>
        <p:spPr>
          <a:xfrm>
            <a:off x="1084726" y="2505075"/>
            <a:ext cx="4912849"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C12010D-7AC4-4A70-A211-6A29274119DB}"/>
              </a:ext>
            </a:extLst>
          </p:cNvPr>
          <p:cNvSpPr>
            <a:spLocks noGrp="1"/>
          </p:cNvSpPr>
          <p:nvPr>
            <p:ph type="body" sz="quarter" idx="3"/>
          </p:nvPr>
        </p:nvSpPr>
        <p:spPr>
          <a:xfrm>
            <a:off x="6172200" y="1681163"/>
            <a:ext cx="48552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AE85B5-3350-49A4-86A1-E5DAED491624}"/>
              </a:ext>
            </a:extLst>
          </p:cNvPr>
          <p:cNvSpPr>
            <a:spLocks noGrp="1"/>
          </p:cNvSpPr>
          <p:nvPr>
            <p:ph sz="quarter" idx="4"/>
          </p:nvPr>
        </p:nvSpPr>
        <p:spPr>
          <a:xfrm>
            <a:off x="6172200" y="2505075"/>
            <a:ext cx="485526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73E874-D08B-4D81-B82D-5DF242E4A1AA}"/>
              </a:ext>
            </a:extLst>
          </p:cNvPr>
          <p:cNvSpPr>
            <a:spLocks noGrp="1"/>
          </p:cNvSpPr>
          <p:nvPr>
            <p:ph type="dt" sz="half" idx="10"/>
          </p:nvPr>
        </p:nvSpPr>
        <p:spPr/>
        <p:txBody>
          <a:bodyPr/>
          <a:lstStyle/>
          <a:p>
            <a:fld id="{FF2E33EF-2D49-4843-882F-8091CEED0B67}" type="datetime1">
              <a:rPr lang="en-US" smtClean="0"/>
              <a:t>8/10/2023</a:t>
            </a:fld>
            <a:endParaRPr lang="en-US"/>
          </a:p>
        </p:txBody>
      </p:sp>
      <p:sp>
        <p:nvSpPr>
          <p:cNvPr id="8" name="Footer Placeholder 7">
            <a:extLst>
              <a:ext uri="{FF2B5EF4-FFF2-40B4-BE49-F238E27FC236}">
                <a16:creationId xmlns:a16="http://schemas.microsoft.com/office/drawing/2014/main" id="{AE174067-0FFA-41C3-A3A6-E8907CC32DE1}"/>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9" name="Slide Number Placeholder 8">
            <a:extLst>
              <a:ext uri="{FF2B5EF4-FFF2-40B4-BE49-F238E27FC236}">
                <a16:creationId xmlns:a16="http://schemas.microsoft.com/office/drawing/2014/main" id="{B7947985-FBC0-4118-8877-2E327F637DF5}"/>
              </a:ext>
            </a:extLst>
          </p:cNvPr>
          <p:cNvSpPr>
            <a:spLocks noGrp="1"/>
          </p:cNvSpPr>
          <p:nvPr>
            <p:ph type="sldNum" sz="quarter" idx="12"/>
          </p:nvPr>
        </p:nvSpPr>
        <p:spPr/>
        <p:txBody>
          <a:bodyPr/>
          <a:lstStyle/>
          <a:p>
            <a:fld id="{5DEF7F31-0B8A-474A-B86C-91F381754329}" type="slidenum">
              <a:rPr lang="en-US" smtClean="0"/>
              <a:t>‹N›</a:t>
            </a:fld>
            <a:endParaRPr lang="en-US"/>
          </a:p>
        </p:txBody>
      </p:sp>
    </p:spTree>
    <p:extLst>
      <p:ext uri="{BB962C8B-B14F-4D97-AF65-F5344CB8AC3E}">
        <p14:creationId xmlns:p14="http://schemas.microsoft.com/office/powerpoint/2010/main" val="1474714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E0282-3DE7-4AB9-83AC-AFEDD22AF3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A7436C-706A-443F-86CD-4444C82818B2}"/>
              </a:ext>
            </a:extLst>
          </p:cNvPr>
          <p:cNvSpPr>
            <a:spLocks noGrp="1"/>
          </p:cNvSpPr>
          <p:nvPr>
            <p:ph type="dt" sz="half" idx="10"/>
          </p:nvPr>
        </p:nvSpPr>
        <p:spPr/>
        <p:txBody>
          <a:bodyPr/>
          <a:lstStyle/>
          <a:p>
            <a:fld id="{6CE9781F-59FD-45C1-89BD-278815AFBCA9}" type="datetime1">
              <a:rPr lang="en-US" smtClean="0"/>
              <a:t>8/10/2023</a:t>
            </a:fld>
            <a:endParaRPr lang="en-US"/>
          </a:p>
        </p:txBody>
      </p:sp>
      <p:sp>
        <p:nvSpPr>
          <p:cNvPr id="4" name="Footer Placeholder 3">
            <a:extLst>
              <a:ext uri="{FF2B5EF4-FFF2-40B4-BE49-F238E27FC236}">
                <a16:creationId xmlns:a16="http://schemas.microsoft.com/office/drawing/2014/main" id="{09B53292-7EA5-45D0-957F-636A44FC06DE}"/>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5" name="Slide Number Placeholder 4">
            <a:extLst>
              <a:ext uri="{FF2B5EF4-FFF2-40B4-BE49-F238E27FC236}">
                <a16:creationId xmlns:a16="http://schemas.microsoft.com/office/drawing/2014/main" id="{0476F59D-34BB-462C-B506-040B9E982FCB}"/>
              </a:ext>
            </a:extLst>
          </p:cNvPr>
          <p:cNvSpPr>
            <a:spLocks noGrp="1"/>
          </p:cNvSpPr>
          <p:nvPr>
            <p:ph type="sldNum" sz="quarter" idx="12"/>
          </p:nvPr>
        </p:nvSpPr>
        <p:spPr/>
        <p:txBody>
          <a:bodyPr/>
          <a:lstStyle/>
          <a:p>
            <a:fld id="{5DEF7F31-0B8A-474A-B86C-91F381754329}" type="slidenum">
              <a:rPr lang="en-US" smtClean="0"/>
              <a:t>‹N›</a:t>
            </a:fld>
            <a:endParaRPr lang="en-US"/>
          </a:p>
        </p:txBody>
      </p:sp>
    </p:spTree>
    <p:extLst>
      <p:ext uri="{BB962C8B-B14F-4D97-AF65-F5344CB8AC3E}">
        <p14:creationId xmlns:p14="http://schemas.microsoft.com/office/powerpoint/2010/main" val="3703225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E55245-AB52-41B4-9B28-55E6527DA2F8}"/>
              </a:ext>
            </a:extLst>
          </p:cNvPr>
          <p:cNvSpPr>
            <a:spLocks noGrp="1"/>
          </p:cNvSpPr>
          <p:nvPr>
            <p:ph type="dt" sz="half" idx="10"/>
          </p:nvPr>
        </p:nvSpPr>
        <p:spPr/>
        <p:txBody>
          <a:bodyPr/>
          <a:lstStyle/>
          <a:p>
            <a:fld id="{76A9152D-5A14-4D87-94A6-64F76356B410}" type="datetime1">
              <a:rPr lang="en-US" smtClean="0"/>
              <a:t>8/10/2023</a:t>
            </a:fld>
            <a:endParaRPr lang="en-US"/>
          </a:p>
        </p:txBody>
      </p:sp>
      <p:sp>
        <p:nvSpPr>
          <p:cNvPr id="3" name="Footer Placeholder 2">
            <a:extLst>
              <a:ext uri="{FF2B5EF4-FFF2-40B4-BE49-F238E27FC236}">
                <a16:creationId xmlns:a16="http://schemas.microsoft.com/office/drawing/2014/main" id="{CA73B8AE-58B0-4FDF-8430-9D8D3DD53725}"/>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4" name="Slide Number Placeholder 3">
            <a:extLst>
              <a:ext uri="{FF2B5EF4-FFF2-40B4-BE49-F238E27FC236}">
                <a16:creationId xmlns:a16="http://schemas.microsoft.com/office/drawing/2014/main" id="{479E4D91-8619-43C1-841B-B5F47DE01739}"/>
              </a:ext>
            </a:extLst>
          </p:cNvPr>
          <p:cNvSpPr>
            <a:spLocks noGrp="1"/>
          </p:cNvSpPr>
          <p:nvPr>
            <p:ph type="sldNum" sz="quarter" idx="12"/>
          </p:nvPr>
        </p:nvSpPr>
        <p:spPr/>
        <p:txBody>
          <a:bodyPr/>
          <a:lstStyle/>
          <a:p>
            <a:fld id="{5DEF7F31-0B8A-474A-B86C-91F381754329}" type="slidenum">
              <a:rPr lang="en-US" smtClean="0"/>
              <a:t>‹N›</a:t>
            </a:fld>
            <a:endParaRPr lang="en-US"/>
          </a:p>
        </p:txBody>
      </p:sp>
    </p:spTree>
    <p:extLst>
      <p:ext uri="{BB962C8B-B14F-4D97-AF65-F5344CB8AC3E}">
        <p14:creationId xmlns:p14="http://schemas.microsoft.com/office/powerpoint/2010/main" val="2450048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DA660-DF93-4947-B93F-BF118D3B5F80}"/>
              </a:ext>
            </a:extLst>
          </p:cNvPr>
          <p:cNvSpPr>
            <a:spLocks noGrp="1"/>
          </p:cNvSpPr>
          <p:nvPr>
            <p:ph type="title"/>
          </p:nvPr>
        </p:nvSpPr>
        <p:spPr>
          <a:xfrm>
            <a:off x="1084727" y="457200"/>
            <a:ext cx="3687298"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02F0292E-B3E1-4FD6-A7FA-C165BAC21C28}"/>
              </a:ext>
            </a:extLst>
          </p:cNvPr>
          <p:cNvSpPr>
            <a:spLocks noGrp="1"/>
          </p:cNvSpPr>
          <p:nvPr>
            <p:ph idx="1"/>
          </p:nvPr>
        </p:nvSpPr>
        <p:spPr>
          <a:xfrm>
            <a:off x="5183188" y="987425"/>
            <a:ext cx="5844277"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EFB0ECC-817B-4A71-AFB5-FC60A2BC3ABC}"/>
              </a:ext>
            </a:extLst>
          </p:cNvPr>
          <p:cNvSpPr>
            <a:spLocks noGrp="1"/>
          </p:cNvSpPr>
          <p:nvPr>
            <p:ph type="body" sz="half" idx="2"/>
          </p:nvPr>
        </p:nvSpPr>
        <p:spPr>
          <a:xfrm>
            <a:off x="1084727" y="2253343"/>
            <a:ext cx="3687298" cy="3615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7788E0B-6135-4F59-A35A-2CA1A8BA4ED2}"/>
              </a:ext>
            </a:extLst>
          </p:cNvPr>
          <p:cNvSpPr>
            <a:spLocks noGrp="1"/>
          </p:cNvSpPr>
          <p:nvPr>
            <p:ph type="dt" sz="half" idx="10"/>
          </p:nvPr>
        </p:nvSpPr>
        <p:spPr/>
        <p:txBody>
          <a:bodyPr/>
          <a:lstStyle/>
          <a:p>
            <a:fld id="{D87ABA9B-3EC5-4178-B7B9-31D2E06DB8D5}" type="datetime1">
              <a:rPr lang="en-US" smtClean="0"/>
              <a:t>8/10/2023</a:t>
            </a:fld>
            <a:endParaRPr lang="en-US"/>
          </a:p>
        </p:txBody>
      </p:sp>
      <p:sp>
        <p:nvSpPr>
          <p:cNvPr id="6" name="Footer Placeholder 5">
            <a:extLst>
              <a:ext uri="{FF2B5EF4-FFF2-40B4-BE49-F238E27FC236}">
                <a16:creationId xmlns:a16="http://schemas.microsoft.com/office/drawing/2014/main" id="{FD0DEF36-4037-4E6D-988F-CC8E3F11C630}"/>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7" name="Slide Number Placeholder 6">
            <a:extLst>
              <a:ext uri="{FF2B5EF4-FFF2-40B4-BE49-F238E27FC236}">
                <a16:creationId xmlns:a16="http://schemas.microsoft.com/office/drawing/2014/main" id="{055C0D2D-D878-4723-A002-5A601EFB48A0}"/>
              </a:ext>
            </a:extLst>
          </p:cNvPr>
          <p:cNvSpPr>
            <a:spLocks noGrp="1"/>
          </p:cNvSpPr>
          <p:nvPr>
            <p:ph type="sldNum" sz="quarter" idx="12"/>
          </p:nvPr>
        </p:nvSpPr>
        <p:spPr/>
        <p:txBody>
          <a:bodyPr/>
          <a:lstStyle/>
          <a:p>
            <a:fld id="{5DEF7F31-0B8A-474A-B86C-91F381754329}" type="slidenum">
              <a:rPr lang="en-US" smtClean="0"/>
              <a:t>‹N›</a:t>
            </a:fld>
            <a:endParaRPr lang="en-US"/>
          </a:p>
        </p:txBody>
      </p:sp>
    </p:spTree>
    <p:extLst>
      <p:ext uri="{BB962C8B-B14F-4D97-AF65-F5344CB8AC3E}">
        <p14:creationId xmlns:p14="http://schemas.microsoft.com/office/powerpoint/2010/main" val="88435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C59D5-B8A1-4C9C-A61F-E082A44330BB}"/>
              </a:ext>
            </a:extLst>
          </p:cNvPr>
          <p:cNvSpPr>
            <a:spLocks noGrp="1"/>
          </p:cNvSpPr>
          <p:nvPr>
            <p:ph type="title"/>
          </p:nvPr>
        </p:nvSpPr>
        <p:spPr>
          <a:xfrm>
            <a:off x="1084727" y="720433"/>
            <a:ext cx="3687298" cy="1587337"/>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4CB4F5F-E6E7-45C3-B35C-80F81FB1A5E8}"/>
              </a:ext>
            </a:extLst>
          </p:cNvPr>
          <p:cNvSpPr>
            <a:spLocks noGrp="1"/>
          </p:cNvSpPr>
          <p:nvPr>
            <p:ph type="pic" idx="1"/>
          </p:nvPr>
        </p:nvSpPr>
        <p:spPr>
          <a:xfrm>
            <a:off x="5183188" y="987425"/>
            <a:ext cx="58277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6633AB7-4F8E-4A9F-AC15-89E6A6E00347}"/>
              </a:ext>
            </a:extLst>
          </p:cNvPr>
          <p:cNvSpPr>
            <a:spLocks noGrp="1"/>
          </p:cNvSpPr>
          <p:nvPr>
            <p:ph type="body" sz="half" idx="2"/>
          </p:nvPr>
        </p:nvSpPr>
        <p:spPr>
          <a:xfrm>
            <a:off x="1084727" y="2449286"/>
            <a:ext cx="3687298" cy="3419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074B526-866D-4E11-A7F9-081BD4EDF484}"/>
              </a:ext>
            </a:extLst>
          </p:cNvPr>
          <p:cNvSpPr>
            <a:spLocks noGrp="1"/>
          </p:cNvSpPr>
          <p:nvPr>
            <p:ph type="dt" sz="half" idx="10"/>
          </p:nvPr>
        </p:nvSpPr>
        <p:spPr/>
        <p:txBody>
          <a:bodyPr/>
          <a:lstStyle/>
          <a:p>
            <a:fld id="{EB13868A-4E9E-4017-951A-39DDF0CC04A5}" type="datetime1">
              <a:rPr lang="en-US" smtClean="0"/>
              <a:t>8/10/2023</a:t>
            </a:fld>
            <a:endParaRPr lang="en-US"/>
          </a:p>
        </p:txBody>
      </p:sp>
      <p:sp>
        <p:nvSpPr>
          <p:cNvPr id="6" name="Footer Placeholder 5">
            <a:extLst>
              <a:ext uri="{FF2B5EF4-FFF2-40B4-BE49-F238E27FC236}">
                <a16:creationId xmlns:a16="http://schemas.microsoft.com/office/drawing/2014/main" id="{CD758BF8-E962-4367-8495-62438FDD483D}"/>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7" name="Slide Number Placeholder 6">
            <a:extLst>
              <a:ext uri="{FF2B5EF4-FFF2-40B4-BE49-F238E27FC236}">
                <a16:creationId xmlns:a16="http://schemas.microsoft.com/office/drawing/2014/main" id="{8FC20AE1-C97D-4E6C-9DB2-B2904C2CF247}"/>
              </a:ext>
            </a:extLst>
          </p:cNvPr>
          <p:cNvSpPr>
            <a:spLocks noGrp="1"/>
          </p:cNvSpPr>
          <p:nvPr>
            <p:ph type="sldNum" sz="quarter" idx="12"/>
          </p:nvPr>
        </p:nvSpPr>
        <p:spPr/>
        <p:txBody>
          <a:bodyPr/>
          <a:lstStyle/>
          <a:p>
            <a:fld id="{5DEF7F31-0B8A-474A-B86C-91F381754329}" type="slidenum">
              <a:rPr lang="en-US" smtClean="0"/>
              <a:t>‹N›</a:t>
            </a:fld>
            <a:endParaRPr lang="en-US"/>
          </a:p>
        </p:txBody>
      </p:sp>
    </p:spTree>
    <p:extLst>
      <p:ext uri="{BB962C8B-B14F-4D97-AF65-F5344CB8AC3E}">
        <p14:creationId xmlns:p14="http://schemas.microsoft.com/office/powerpoint/2010/main" val="2035679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89E81-5CFF-4A28-B9C8-5D54E51DF202}"/>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58A4CC8-DCB0-4E94-98A7-236E3D1866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1F802-21C2-44B2-A419-55469D826571}"/>
              </a:ext>
            </a:extLst>
          </p:cNvPr>
          <p:cNvSpPr>
            <a:spLocks noGrp="1"/>
          </p:cNvSpPr>
          <p:nvPr>
            <p:ph type="dt" sz="half" idx="10"/>
          </p:nvPr>
        </p:nvSpPr>
        <p:spPr/>
        <p:txBody>
          <a:bodyPr/>
          <a:lstStyle/>
          <a:p>
            <a:fld id="{F1194B51-EA04-40CA-9B02-111DDD63BD04}" type="datetime1">
              <a:rPr lang="en-US" smtClean="0"/>
              <a:t>8/10/2023</a:t>
            </a:fld>
            <a:endParaRPr lang="en-US"/>
          </a:p>
        </p:txBody>
      </p:sp>
      <p:sp>
        <p:nvSpPr>
          <p:cNvPr id="5" name="Footer Placeholder 4">
            <a:extLst>
              <a:ext uri="{FF2B5EF4-FFF2-40B4-BE49-F238E27FC236}">
                <a16:creationId xmlns:a16="http://schemas.microsoft.com/office/drawing/2014/main" id="{84BDB709-08FF-4C4A-8670-4CCA9146F944}"/>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lide Number Placeholder 5">
            <a:extLst>
              <a:ext uri="{FF2B5EF4-FFF2-40B4-BE49-F238E27FC236}">
                <a16:creationId xmlns:a16="http://schemas.microsoft.com/office/drawing/2014/main" id="{75395375-1CC8-4950-8439-877451C4266D}"/>
              </a:ext>
            </a:extLst>
          </p:cNvPr>
          <p:cNvSpPr>
            <a:spLocks noGrp="1"/>
          </p:cNvSpPr>
          <p:nvPr>
            <p:ph type="sldNum" sz="quarter" idx="12"/>
          </p:nvPr>
        </p:nvSpPr>
        <p:spPr/>
        <p:txBody>
          <a:bodyPr/>
          <a:lstStyle/>
          <a:p>
            <a:fld id="{5DEF7F31-0B8A-474A-B86C-91F381754329}" type="slidenum">
              <a:rPr lang="en-US" smtClean="0"/>
              <a:t>‹N›</a:t>
            </a:fld>
            <a:endParaRPr lang="en-US"/>
          </a:p>
        </p:txBody>
      </p:sp>
    </p:spTree>
    <p:extLst>
      <p:ext uri="{BB962C8B-B14F-4D97-AF65-F5344CB8AC3E}">
        <p14:creationId xmlns:p14="http://schemas.microsoft.com/office/powerpoint/2010/main" val="2225560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8BDF0-A155-454D-B3E2-AD15D0905A62}"/>
              </a:ext>
            </a:extLst>
          </p:cNvPr>
          <p:cNvSpPr>
            <a:spLocks noGrp="1"/>
          </p:cNvSpPr>
          <p:nvPr>
            <p:ph type="title" orient="vert"/>
          </p:nvPr>
        </p:nvSpPr>
        <p:spPr>
          <a:xfrm>
            <a:off x="9073242" y="827313"/>
            <a:ext cx="2280557" cy="5061857"/>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07244E0D-96EC-4B35-BA5C-5DAFCC7281AE}"/>
              </a:ext>
            </a:extLst>
          </p:cNvPr>
          <p:cNvSpPr>
            <a:spLocks noGrp="1"/>
          </p:cNvSpPr>
          <p:nvPr>
            <p:ph type="body" orient="vert" idx="1"/>
          </p:nvPr>
        </p:nvSpPr>
        <p:spPr>
          <a:xfrm>
            <a:off x="838200" y="827313"/>
            <a:ext cx="8115300" cy="506185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3ADC4E-9FB1-439F-B0FB-47F47B3421A7}"/>
              </a:ext>
            </a:extLst>
          </p:cNvPr>
          <p:cNvSpPr>
            <a:spLocks noGrp="1"/>
          </p:cNvSpPr>
          <p:nvPr>
            <p:ph type="dt" sz="half" idx="10"/>
          </p:nvPr>
        </p:nvSpPr>
        <p:spPr/>
        <p:txBody>
          <a:bodyPr/>
          <a:lstStyle/>
          <a:p>
            <a:fld id="{88EE3156-594F-41E9-AF84-AEA9B8F6D698}" type="datetime1">
              <a:rPr lang="en-US" smtClean="0"/>
              <a:t>8/10/2023</a:t>
            </a:fld>
            <a:endParaRPr lang="en-US"/>
          </a:p>
        </p:txBody>
      </p:sp>
      <p:sp>
        <p:nvSpPr>
          <p:cNvPr id="5" name="Footer Placeholder 4">
            <a:extLst>
              <a:ext uri="{FF2B5EF4-FFF2-40B4-BE49-F238E27FC236}">
                <a16:creationId xmlns:a16="http://schemas.microsoft.com/office/drawing/2014/main" id="{637EE406-061A-4440-BA75-3B684FC84826}"/>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lide Number Placeholder 5">
            <a:extLst>
              <a:ext uri="{FF2B5EF4-FFF2-40B4-BE49-F238E27FC236}">
                <a16:creationId xmlns:a16="http://schemas.microsoft.com/office/drawing/2014/main" id="{8A6D93CF-F5F3-4897-A51E-47D577FDD344}"/>
              </a:ext>
            </a:extLst>
          </p:cNvPr>
          <p:cNvSpPr>
            <a:spLocks noGrp="1"/>
          </p:cNvSpPr>
          <p:nvPr>
            <p:ph type="sldNum" sz="quarter" idx="12"/>
          </p:nvPr>
        </p:nvSpPr>
        <p:spPr/>
        <p:txBody>
          <a:bodyPr/>
          <a:lstStyle/>
          <a:p>
            <a:fld id="{5DEF7F31-0B8A-474A-B86C-91F381754329}" type="slidenum">
              <a:rPr lang="en-US" smtClean="0"/>
              <a:t>‹N›</a:t>
            </a:fld>
            <a:endParaRPr lang="en-US"/>
          </a:p>
        </p:txBody>
      </p:sp>
    </p:spTree>
    <p:extLst>
      <p:ext uri="{BB962C8B-B14F-4D97-AF65-F5344CB8AC3E}">
        <p14:creationId xmlns:p14="http://schemas.microsoft.com/office/powerpoint/2010/main" val="3202376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192E3E-68A9-4F36-936C-1C8D0B9EF132}"/>
              </a:ext>
            </a:extLst>
          </p:cNvPr>
          <p:cNvSpPr/>
          <p:nvPr/>
        </p:nvSpPr>
        <p:spPr>
          <a:xfrm>
            <a:off x="8803792" y="345589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3F214EB0-7E6D-4536-9350-5CB688B56F26}"/>
              </a:ext>
            </a:extLst>
          </p:cNvPr>
          <p:cNvSpPr>
            <a:spLocks noGrp="1"/>
          </p:cNvSpPr>
          <p:nvPr>
            <p:ph type="title"/>
          </p:nvPr>
        </p:nvSpPr>
        <p:spPr>
          <a:xfrm>
            <a:off x="1077362" y="720434"/>
            <a:ext cx="9950103" cy="150737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ABF5455E-4725-4924-BF7D-2E1FC9E391F8}"/>
              </a:ext>
            </a:extLst>
          </p:cNvPr>
          <p:cNvSpPr>
            <a:spLocks noGrp="1"/>
          </p:cNvSpPr>
          <p:nvPr>
            <p:ph type="body" idx="1"/>
          </p:nvPr>
        </p:nvSpPr>
        <p:spPr>
          <a:xfrm>
            <a:off x="1077362" y="2427316"/>
            <a:ext cx="9950103" cy="351351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2CAD9D9-1A1D-4438-9F3D-E5E58FD72F1F}"/>
              </a:ext>
            </a:extLst>
          </p:cNvPr>
          <p:cNvSpPr>
            <a:spLocks noGrp="1"/>
          </p:cNvSpPr>
          <p:nvPr>
            <p:ph type="dt" sz="half" idx="2"/>
          </p:nvPr>
        </p:nvSpPr>
        <p:spPr>
          <a:xfrm>
            <a:off x="9243751" y="6356350"/>
            <a:ext cx="2296603" cy="365125"/>
          </a:xfrm>
          <a:prstGeom prst="rect">
            <a:avLst/>
          </a:prstGeom>
        </p:spPr>
        <p:txBody>
          <a:bodyPr vert="horz" lIns="91440" tIns="45720" rIns="91440" bIns="45720" rtlCol="0" anchor="ctr"/>
          <a:lstStyle>
            <a:lvl1pPr algn="r">
              <a:defRPr sz="900">
                <a:solidFill>
                  <a:schemeClr val="bg1"/>
                </a:solidFill>
              </a:defRPr>
            </a:lvl1pPr>
          </a:lstStyle>
          <a:p>
            <a:fld id="{66CCF7FE-1991-49BB-A3C9-6B37BAAF26B6}" type="datetime1">
              <a:rPr lang="en-US" smtClean="0"/>
              <a:t>8/10/2023</a:t>
            </a:fld>
            <a:endParaRPr lang="en-US" dirty="0"/>
          </a:p>
        </p:txBody>
      </p:sp>
      <p:sp>
        <p:nvSpPr>
          <p:cNvPr id="5" name="Footer Placeholder 4">
            <a:extLst>
              <a:ext uri="{FF2B5EF4-FFF2-40B4-BE49-F238E27FC236}">
                <a16:creationId xmlns:a16="http://schemas.microsoft.com/office/drawing/2014/main" id="{AE80A827-D7BF-4CA4-8C29-5AE54ADA4787}"/>
              </a:ext>
            </a:extLst>
          </p:cNvPr>
          <p:cNvSpPr>
            <a:spLocks noGrp="1"/>
          </p:cNvSpPr>
          <p:nvPr>
            <p:ph type="ftr" sz="quarter" idx="3"/>
          </p:nvPr>
        </p:nvSpPr>
        <p:spPr>
          <a:xfrm rot="5400000">
            <a:off x="-1610380" y="1926575"/>
            <a:ext cx="3830351" cy="365125"/>
          </a:xfrm>
          <a:prstGeom prst="rect">
            <a:avLst/>
          </a:prstGeom>
        </p:spPr>
        <p:txBody>
          <a:bodyPr vert="horz" lIns="91440" tIns="45720" rIns="91440" bIns="45720" rtlCol="0" anchor="ctr"/>
          <a:lstStyle>
            <a:lvl1pPr algn="l">
              <a:defRPr sz="900">
                <a:solidFill>
                  <a:schemeClr val="tx1"/>
                </a:solidFill>
              </a:defRPr>
            </a:lvl1pPr>
          </a:lstStyle>
          <a:p>
            <a:r>
              <a:rPr lang="it-IT"/>
              <a:t>Decreto 1° agosto 2023 patrocinio: Formatore Carlo Alberto Calcagno ©</a:t>
            </a:r>
            <a:endParaRPr lang="en-US" dirty="0"/>
          </a:p>
        </p:txBody>
      </p:sp>
      <p:sp>
        <p:nvSpPr>
          <p:cNvPr id="6" name="Slide Number Placeholder 5">
            <a:extLst>
              <a:ext uri="{FF2B5EF4-FFF2-40B4-BE49-F238E27FC236}">
                <a16:creationId xmlns:a16="http://schemas.microsoft.com/office/drawing/2014/main" id="{06717188-1DE1-4DA5-8161-21179E4ADEAE}"/>
              </a:ext>
            </a:extLst>
          </p:cNvPr>
          <p:cNvSpPr>
            <a:spLocks noGrp="1"/>
          </p:cNvSpPr>
          <p:nvPr>
            <p:ph type="sldNum" sz="quarter" idx="4"/>
          </p:nvPr>
        </p:nvSpPr>
        <p:spPr>
          <a:xfrm>
            <a:off x="11540355" y="6356350"/>
            <a:ext cx="410973" cy="365125"/>
          </a:xfrm>
          <a:prstGeom prst="rect">
            <a:avLst/>
          </a:prstGeom>
        </p:spPr>
        <p:txBody>
          <a:bodyPr vert="horz" lIns="91440" tIns="45720" rIns="91440" bIns="45720" rtlCol="0" anchor="ctr"/>
          <a:lstStyle>
            <a:lvl1pPr algn="r">
              <a:defRPr sz="900">
                <a:solidFill>
                  <a:schemeClr val="bg1"/>
                </a:solidFill>
              </a:defRPr>
            </a:lvl1pPr>
          </a:lstStyle>
          <a:p>
            <a:fld id="{5DEF7F31-0B8A-474A-B86C-91F381754329}" type="slidenum">
              <a:rPr lang="en-US" smtClean="0"/>
              <a:pPr/>
              <a:t>‹N›</a:t>
            </a:fld>
            <a:endParaRPr lang="en-US" dirty="0"/>
          </a:p>
        </p:txBody>
      </p:sp>
    </p:spTree>
    <p:extLst>
      <p:ext uri="{BB962C8B-B14F-4D97-AF65-F5344CB8AC3E}">
        <p14:creationId xmlns:p14="http://schemas.microsoft.com/office/powerpoint/2010/main" val="2240827046"/>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hdr="0"/>
  <p:txStyles>
    <p:titleStyle>
      <a:lvl1pPr algn="l" defTabSz="914400" rtl="0" eaLnBrk="1" latinLnBrk="0" hangingPunct="1">
        <a:lnSpc>
          <a:spcPct val="110000"/>
        </a:lnSpc>
        <a:spcBef>
          <a:spcPct val="0"/>
        </a:spcBef>
        <a:buNone/>
        <a:defRPr sz="3200" b="1" kern="120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486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94360"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2296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mediaresenzaconfini.or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CDBACC89-F627-4E52-8D10-DE7501AAE4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p:cNvSpPr>
            <a:spLocks noGrp="1"/>
          </p:cNvSpPr>
          <p:nvPr>
            <p:ph type="ctrTitle"/>
          </p:nvPr>
        </p:nvSpPr>
        <p:spPr>
          <a:xfrm>
            <a:off x="759489" y="1387100"/>
            <a:ext cx="3476615" cy="3162300"/>
          </a:xfrm>
        </p:spPr>
        <p:txBody>
          <a:bodyPr anchor="t">
            <a:noAutofit/>
          </a:bodyPr>
          <a:lstStyle/>
          <a:p>
            <a:pPr algn="just"/>
            <a:r>
              <a:rPr lang="it-IT" sz="1400" dirty="0"/>
              <a:t>Determinazione, liquidazione e pagamento, anche mediante</a:t>
            </a:r>
            <a:br>
              <a:rPr lang="it-IT" sz="1400" dirty="0"/>
            </a:br>
            <a:r>
              <a:rPr lang="it-IT" sz="1400" dirty="0"/>
              <a:t>riconoscimento di credito di imposta, dell'onorario spettante</a:t>
            </a:r>
            <a:br>
              <a:rPr lang="it-IT" sz="1400" dirty="0"/>
            </a:br>
            <a:r>
              <a:rPr lang="it-IT" sz="1400" dirty="0"/>
              <a:t>all'avvocato della parte ammessa al patrocinio a spese dello Stato</a:t>
            </a:r>
            <a:br>
              <a:rPr lang="it-IT" sz="1400" dirty="0"/>
            </a:br>
            <a:r>
              <a:rPr lang="it-IT" sz="1400" dirty="0"/>
              <a:t>nei casi previsti dagli articoli 5, comma 1, e 5-quater, del decreto</a:t>
            </a:r>
            <a:br>
              <a:rPr lang="it-IT" sz="1400" dirty="0"/>
            </a:br>
            <a:r>
              <a:rPr lang="it-IT" sz="1400" dirty="0"/>
              <a:t>legislativo 4 marzo 2010, n. 28 e dall'articolo 3 del decreto-legge</a:t>
            </a:r>
            <a:br>
              <a:rPr lang="it-IT" sz="1400" dirty="0"/>
            </a:br>
            <a:r>
              <a:rPr lang="it-IT" sz="1400" dirty="0"/>
              <a:t>12 settembre 2014, n. 132, convertito, con modificazioni, dalla legge 10 novembre 2014, n. 162. (23A04556) </a:t>
            </a:r>
            <a:br>
              <a:rPr lang="it-IT" sz="1400" dirty="0"/>
            </a:br>
            <a:endParaRPr lang="de-DE" sz="1400" dirty="0"/>
          </a:p>
        </p:txBody>
      </p:sp>
      <p:sp>
        <p:nvSpPr>
          <p:cNvPr id="3" name="Sottotitolo 2"/>
          <p:cNvSpPr>
            <a:spLocks noGrp="1"/>
          </p:cNvSpPr>
          <p:nvPr>
            <p:ph type="subTitle" idx="1"/>
          </p:nvPr>
        </p:nvSpPr>
        <p:spPr>
          <a:xfrm>
            <a:off x="1084728" y="4902489"/>
            <a:ext cx="3313368" cy="985075"/>
          </a:xfrm>
        </p:spPr>
        <p:txBody>
          <a:bodyPr anchor="b">
            <a:normAutofit/>
          </a:bodyPr>
          <a:lstStyle/>
          <a:p>
            <a:pPr>
              <a:lnSpc>
                <a:spcPct val="110000"/>
              </a:lnSpc>
            </a:pPr>
            <a:r>
              <a:rPr lang="de-DE" sz="1100" err="1"/>
              <a:t>Formatore</a:t>
            </a:r>
            <a:r>
              <a:rPr lang="de-DE" sz="1100"/>
              <a:t>: Carlo Alberto Calcagno</a:t>
            </a:r>
          </a:p>
          <a:p>
            <a:pPr>
              <a:lnSpc>
                <a:spcPct val="110000"/>
              </a:lnSpc>
            </a:pPr>
            <a:r>
              <a:rPr lang="de-DE" sz="1100">
                <a:hlinkClick r:id="rId2"/>
              </a:rPr>
              <a:t>www.mediaresenzaconfini.org</a:t>
            </a:r>
            <a:endParaRPr lang="de-DE" sz="1100"/>
          </a:p>
          <a:p>
            <a:pPr>
              <a:lnSpc>
                <a:spcPct val="110000"/>
              </a:lnSpc>
            </a:pPr>
            <a:r>
              <a:rPr lang="de-DE" sz="1100"/>
              <a:t>calcagnocarloalberto1@gmail.com</a:t>
            </a:r>
          </a:p>
        </p:txBody>
      </p:sp>
      <p:sp>
        <p:nvSpPr>
          <p:cNvPr id="42" name="Freeform: Shape 41">
            <a:extLst>
              <a:ext uri="{FF2B5EF4-FFF2-40B4-BE49-F238E27FC236}">
                <a16:creationId xmlns:a16="http://schemas.microsoft.com/office/drawing/2014/main" id="{FEE74FF0-7700-45E2-84A7-B21E79E4BE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224981" y="-2261"/>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Rectangle 43">
            <a:extLst>
              <a:ext uri="{FF2B5EF4-FFF2-40B4-BE49-F238E27FC236}">
                <a16:creationId xmlns:a16="http://schemas.microsoft.com/office/drawing/2014/main" id="{50322D4C-51DD-4EED-8CC9-4BF4C328B5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40469" y="3398831"/>
            <a:ext cx="3445639" cy="34766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89573A88-E4E0-4FBC-A3A1-6AF76F5BC0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722218" y="3396852"/>
            <a:ext cx="3452313" cy="348724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34">
            <a:extLst>
              <a:ext uri="{FF2B5EF4-FFF2-40B4-BE49-F238E27FC236}">
                <a16:creationId xmlns:a16="http://schemas.microsoft.com/office/drawing/2014/main" id="{1C2F2A87-29FA-4731-9D9C-CA3CAC2CF0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727072" y="3393067"/>
            <a:ext cx="3443678" cy="3486182"/>
          </a:xfrm>
          <a:custGeom>
            <a:avLst/>
            <a:gdLst>
              <a:gd name="connsiteX0" fmla="*/ 0 w 3484819"/>
              <a:gd name="connsiteY0" fmla="*/ 0 h 3430264"/>
              <a:gd name="connsiteX1" fmla="*/ 3484819 w 3484819"/>
              <a:gd name="connsiteY1" fmla="*/ 0 h 3430264"/>
              <a:gd name="connsiteX2" fmla="*/ 3484819 w 3484819"/>
              <a:gd name="connsiteY2" fmla="*/ 3430264 h 3430264"/>
              <a:gd name="connsiteX3" fmla="*/ 0 w 3484819"/>
              <a:gd name="connsiteY3" fmla="*/ 3430264 h 3430264"/>
              <a:gd name="connsiteX4" fmla="*/ 0 w 3484819"/>
              <a:gd name="connsiteY4" fmla="*/ 0 h 3430264"/>
              <a:gd name="connsiteX0" fmla="*/ 0 w 3484819"/>
              <a:gd name="connsiteY0" fmla="*/ 0 h 3430264"/>
              <a:gd name="connsiteX1" fmla="*/ 3484819 w 3484819"/>
              <a:gd name="connsiteY1" fmla="*/ 0 h 3430264"/>
              <a:gd name="connsiteX2" fmla="*/ 0 w 3484819"/>
              <a:gd name="connsiteY2" fmla="*/ 3430264 h 3430264"/>
              <a:gd name="connsiteX3" fmla="*/ 0 w 3484819"/>
              <a:gd name="connsiteY3" fmla="*/ 0 h 3430264"/>
            </a:gdLst>
            <a:ahLst/>
            <a:cxnLst>
              <a:cxn ang="0">
                <a:pos x="connsiteX0" y="connsiteY0"/>
              </a:cxn>
              <a:cxn ang="0">
                <a:pos x="connsiteX1" y="connsiteY1"/>
              </a:cxn>
              <a:cxn ang="0">
                <a:pos x="connsiteX2" y="connsiteY2"/>
              </a:cxn>
              <a:cxn ang="0">
                <a:pos x="connsiteX3" y="connsiteY3"/>
              </a:cxn>
            </a:cxnLst>
            <a:rect l="l" t="t" r="r" b="b"/>
            <a:pathLst>
              <a:path w="3484819" h="3430264">
                <a:moveTo>
                  <a:pt x="0" y="0"/>
                </a:moveTo>
                <a:lnTo>
                  <a:pt x="3484819" y="0"/>
                </a:lnTo>
                <a:lnTo>
                  <a:pt x="0" y="343026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Freeform: Shape 49">
            <a:extLst>
              <a:ext uri="{FF2B5EF4-FFF2-40B4-BE49-F238E27FC236}">
                <a16:creationId xmlns:a16="http://schemas.microsoft.com/office/drawing/2014/main" id="{64CFB658-99C3-4625-9743-A64A6E439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5223293" y="3414319"/>
            <a:ext cx="3487248" cy="3443679"/>
          </a:xfrm>
          <a:custGeom>
            <a:avLst/>
            <a:gdLst>
              <a:gd name="connsiteX0" fmla="*/ 0 w 2559050"/>
              <a:gd name="connsiteY0" fmla="*/ 0 h 2559050"/>
              <a:gd name="connsiteX1" fmla="*/ 2559050 w 2559050"/>
              <a:gd name="connsiteY1" fmla="*/ 0 h 2559050"/>
              <a:gd name="connsiteX2" fmla="*/ 0 w 2559050"/>
              <a:gd name="connsiteY2" fmla="*/ 2559050 h 2559050"/>
            </a:gdLst>
            <a:ahLst/>
            <a:cxnLst>
              <a:cxn ang="0">
                <a:pos x="connsiteX0" y="connsiteY0"/>
              </a:cxn>
              <a:cxn ang="0">
                <a:pos x="connsiteX1" y="connsiteY1"/>
              </a:cxn>
              <a:cxn ang="0">
                <a:pos x="connsiteX2" y="connsiteY2"/>
              </a:cxn>
            </a:cxnLst>
            <a:rect l="l" t="t" r="r" b="b"/>
            <a:pathLst>
              <a:path w="2559050" h="2559050">
                <a:moveTo>
                  <a:pt x="0" y="0"/>
                </a:moveTo>
                <a:lnTo>
                  <a:pt x="2559050" y="0"/>
                </a:lnTo>
                <a:cubicBezTo>
                  <a:pt x="2559050" y="1413324"/>
                  <a:pt x="1413324" y="2559050"/>
                  <a:pt x="0" y="255905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3962583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67ECC91-C12B-0F8A-2B4E-07D3979DADDF}"/>
              </a:ext>
            </a:extLst>
          </p:cNvPr>
          <p:cNvSpPr>
            <a:spLocks noGrp="1"/>
          </p:cNvSpPr>
          <p:nvPr>
            <p:ph type="title"/>
          </p:nvPr>
        </p:nvSpPr>
        <p:spPr/>
        <p:txBody>
          <a:bodyPr>
            <a:normAutofit fontScale="90000"/>
          </a:bodyPr>
          <a:lstStyle/>
          <a:p>
            <a:r>
              <a:rPr lang="it-IT" dirty="0"/>
              <a:t>Capo I</a:t>
            </a:r>
            <a:br>
              <a:rPr lang="it-IT" dirty="0"/>
            </a:br>
            <a:r>
              <a:rPr lang="it-IT" dirty="0"/>
              <a:t>Disposizioni generali</a:t>
            </a:r>
            <a:br>
              <a:rPr lang="it-IT" dirty="0"/>
            </a:br>
            <a:endParaRPr lang="it-IT" dirty="0"/>
          </a:p>
        </p:txBody>
      </p:sp>
      <p:sp>
        <p:nvSpPr>
          <p:cNvPr id="3" name="Segnaposto contenuto 2">
            <a:extLst>
              <a:ext uri="{FF2B5EF4-FFF2-40B4-BE49-F238E27FC236}">
                <a16:creationId xmlns:a16="http://schemas.microsoft.com/office/drawing/2014/main" id="{2570F796-8197-FEAC-6198-C97D61D455A4}"/>
              </a:ext>
            </a:extLst>
          </p:cNvPr>
          <p:cNvSpPr>
            <a:spLocks noGrp="1"/>
          </p:cNvSpPr>
          <p:nvPr>
            <p:ph idx="1"/>
          </p:nvPr>
        </p:nvSpPr>
        <p:spPr/>
        <p:txBody>
          <a:bodyPr>
            <a:normAutofit fontScale="92500" lnSpcReduction="20000"/>
          </a:bodyPr>
          <a:lstStyle/>
          <a:p>
            <a:pPr marL="0" indent="0" algn="just">
              <a:buNone/>
            </a:pPr>
            <a:r>
              <a:rPr lang="it-IT" sz="2200" dirty="0"/>
              <a:t>Art. 1</a:t>
            </a:r>
          </a:p>
          <a:p>
            <a:pPr marL="0" indent="0" algn="just">
              <a:buNone/>
            </a:pPr>
            <a:r>
              <a:rPr lang="it-IT" sz="2200" dirty="0"/>
              <a:t> Oggetto</a:t>
            </a:r>
          </a:p>
          <a:p>
            <a:pPr marL="0" indent="0" algn="just">
              <a:buNone/>
            </a:pPr>
            <a:r>
              <a:rPr lang="it-IT" dirty="0"/>
              <a:t> </a:t>
            </a:r>
            <a:r>
              <a:rPr lang="it-IT" sz="2800" dirty="0"/>
              <a:t>1. Il presente decreto determina gli importi spettanti all'avvocato della parte ammessa al patrocinio a spese dello Stato nelle procedure di mediazione e di negoziazione assistita, e disciplina le modalità di presentazione della richiesta di riconoscimento del corrispondente credito di imposta o di pagamento del relativo importo. </a:t>
            </a:r>
            <a:endParaRPr lang="it-IT" dirty="0"/>
          </a:p>
        </p:txBody>
      </p:sp>
      <p:sp>
        <p:nvSpPr>
          <p:cNvPr id="4" name="Segnaposto data 3">
            <a:extLst>
              <a:ext uri="{FF2B5EF4-FFF2-40B4-BE49-F238E27FC236}">
                <a16:creationId xmlns:a16="http://schemas.microsoft.com/office/drawing/2014/main" id="{79C42977-EED2-5551-4133-6B76488EC2FF}"/>
              </a:ext>
            </a:extLst>
          </p:cNvPr>
          <p:cNvSpPr>
            <a:spLocks noGrp="1"/>
          </p:cNvSpPr>
          <p:nvPr>
            <p:ph type="dt" sz="half" idx="10"/>
          </p:nvPr>
        </p:nvSpPr>
        <p:spPr/>
        <p:txBody>
          <a:bodyPr/>
          <a:lstStyle/>
          <a:p>
            <a:fld id="{B4337F9F-DF91-48B2-B9E2-D44FE2D24718}" type="datetime1">
              <a:rPr lang="en-US" smtClean="0"/>
              <a:t>8/10/2023</a:t>
            </a:fld>
            <a:endParaRPr lang="en-US"/>
          </a:p>
        </p:txBody>
      </p:sp>
      <p:sp>
        <p:nvSpPr>
          <p:cNvPr id="5" name="Segnaposto piè di pagina 4">
            <a:extLst>
              <a:ext uri="{FF2B5EF4-FFF2-40B4-BE49-F238E27FC236}">
                <a16:creationId xmlns:a16="http://schemas.microsoft.com/office/drawing/2014/main" id="{167FCE90-B50E-0AC8-F760-95FEAC005F6C}"/>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2632D359-1045-5124-A2CA-CDA5834B44E3}"/>
              </a:ext>
            </a:extLst>
          </p:cNvPr>
          <p:cNvSpPr>
            <a:spLocks noGrp="1"/>
          </p:cNvSpPr>
          <p:nvPr>
            <p:ph type="sldNum" sz="quarter" idx="12"/>
          </p:nvPr>
        </p:nvSpPr>
        <p:spPr/>
        <p:txBody>
          <a:bodyPr/>
          <a:lstStyle/>
          <a:p>
            <a:fld id="{5DEF7F31-0B8A-474A-B86C-91F381754329}" type="slidenum">
              <a:rPr lang="en-US" smtClean="0"/>
              <a:t>2</a:t>
            </a:fld>
            <a:endParaRPr lang="en-US"/>
          </a:p>
        </p:txBody>
      </p:sp>
    </p:spTree>
    <p:extLst>
      <p:ext uri="{BB962C8B-B14F-4D97-AF65-F5344CB8AC3E}">
        <p14:creationId xmlns:p14="http://schemas.microsoft.com/office/powerpoint/2010/main" val="202211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643D19-7E0B-D8E2-56F1-3DECA578A15C}"/>
              </a:ext>
            </a:extLst>
          </p:cNvPr>
          <p:cNvSpPr>
            <a:spLocks noGrp="1"/>
          </p:cNvSpPr>
          <p:nvPr>
            <p:ph type="title"/>
          </p:nvPr>
        </p:nvSpPr>
        <p:spPr>
          <a:xfrm>
            <a:off x="1077362" y="720434"/>
            <a:ext cx="9950103" cy="552312"/>
          </a:xfrm>
        </p:spPr>
        <p:txBody>
          <a:bodyPr>
            <a:normAutofit fontScale="90000"/>
          </a:bodyPr>
          <a:lstStyle/>
          <a:p>
            <a:pPr algn="ctr"/>
            <a:r>
              <a:rPr lang="it-IT" dirty="0"/>
              <a:t>Art. 2 c. 1 lett. a-i</a:t>
            </a:r>
          </a:p>
        </p:txBody>
      </p:sp>
      <p:sp>
        <p:nvSpPr>
          <p:cNvPr id="3" name="Segnaposto contenuto 2">
            <a:extLst>
              <a:ext uri="{FF2B5EF4-FFF2-40B4-BE49-F238E27FC236}">
                <a16:creationId xmlns:a16="http://schemas.microsoft.com/office/drawing/2014/main" id="{76C20010-D32A-6F93-55A0-7AD79F7856AB}"/>
              </a:ext>
            </a:extLst>
          </p:cNvPr>
          <p:cNvSpPr>
            <a:spLocks noGrp="1"/>
          </p:cNvSpPr>
          <p:nvPr>
            <p:ph idx="1"/>
          </p:nvPr>
        </p:nvSpPr>
        <p:spPr>
          <a:xfrm>
            <a:off x="1077362" y="1427205"/>
            <a:ext cx="9950103" cy="4513625"/>
          </a:xfrm>
        </p:spPr>
        <p:txBody>
          <a:bodyPr>
            <a:normAutofit fontScale="25000" lnSpcReduction="20000"/>
          </a:bodyPr>
          <a:lstStyle/>
          <a:p>
            <a:pPr marL="0" indent="0">
              <a:buNone/>
            </a:pPr>
            <a:r>
              <a:rPr lang="it-IT" sz="4000" dirty="0"/>
              <a:t>Art. 2</a:t>
            </a:r>
          </a:p>
          <a:p>
            <a:pPr marL="0" indent="0" algn="just">
              <a:buNone/>
            </a:pPr>
            <a:r>
              <a:rPr lang="it-IT" sz="4000" dirty="0"/>
              <a:t> Definizioni</a:t>
            </a:r>
          </a:p>
          <a:p>
            <a:pPr marL="0" indent="0" algn="just">
              <a:buNone/>
            </a:pPr>
            <a:r>
              <a:rPr lang="it-IT" sz="4400" dirty="0"/>
              <a:t> 1. Ai fini del presente decreto si intende per:</a:t>
            </a:r>
          </a:p>
          <a:p>
            <a:pPr marL="0" indent="0" algn="just">
              <a:buNone/>
            </a:pPr>
            <a:r>
              <a:rPr lang="it-IT" sz="4400" dirty="0"/>
              <a:t> a) «richiedente»: l'avvocato che ha assistito una parte ammessa al patrocinio a spese dello Stato in una procedura di mediazione  o di negoziazione assistita e che è legittimato a presentare l'istanza di determinazione del compenso, di riconoscimento del credito di imposta o di pagamento ai sensi del presente decreto;</a:t>
            </a:r>
          </a:p>
          <a:p>
            <a:pPr marL="0" indent="0" algn="just">
              <a:buNone/>
            </a:pPr>
            <a:r>
              <a:rPr lang="it-IT" sz="4400" dirty="0"/>
              <a:t> b) «ODM»: organismo di mediazione. L'ente pubblico o privato presso il quale si svolge il procedimento di mediazione in conformità al decreto legislativo 4 marzo 2010, n. 28;</a:t>
            </a:r>
          </a:p>
          <a:p>
            <a:pPr marL="0" indent="0" algn="just">
              <a:buNone/>
            </a:pPr>
            <a:r>
              <a:rPr lang="it-IT" sz="4400" dirty="0"/>
              <a:t> c) «numero d'ordine del ODM»: il numero attribuito al ODM al momento dell'iscrizione al registro in conformità al regolamento adottato in attuazione dell'art. 16 del decreto legislativo, n. 28 del 2010;</a:t>
            </a:r>
          </a:p>
          <a:p>
            <a:pPr marL="0" indent="0" algn="just">
              <a:buNone/>
            </a:pPr>
            <a:r>
              <a:rPr lang="it-IT" sz="4400" dirty="0"/>
              <a:t> d) «registri degli affari di mediazione»: i registri previsti dal regolamento adottato in attuazione dell'art. 16 del decreto legislativo n. 28 del 2010;</a:t>
            </a:r>
          </a:p>
          <a:p>
            <a:pPr marL="0" indent="0" algn="just">
              <a:buNone/>
            </a:pPr>
            <a:r>
              <a:rPr lang="it-IT" sz="4400" dirty="0"/>
              <a:t> e) «numero identificativo del procedimento di mediazione»: il numero attribuito a ciascun procedimento inserito nei registri degli affari di mediazione;</a:t>
            </a:r>
          </a:p>
          <a:p>
            <a:pPr marL="0" indent="0" algn="just">
              <a:buNone/>
            </a:pPr>
            <a:r>
              <a:rPr lang="it-IT" sz="4400" dirty="0"/>
              <a:t> f) «accordo di conciliazione»: il documento attestante la composizione di una controversia a seguito dello svolgimento della</a:t>
            </a:r>
          </a:p>
          <a:p>
            <a:pPr marL="0" indent="0" algn="just">
              <a:buNone/>
            </a:pPr>
            <a:r>
              <a:rPr lang="it-IT" sz="4400" dirty="0"/>
              <a:t>mediazione; </a:t>
            </a:r>
          </a:p>
          <a:p>
            <a:pPr marL="0" indent="0" algn="just">
              <a:buNone/>
            </a:pPr>
            <a:r>
              <a:rPr lang="it-IT" sz="4400" dirty="0"/>
              <a:t>g) «negoziazione assistita»: la procedura di negoziazione assistita da avvocati svolta in conformità alle disposizioni del Capo II del decreto-legge 12 settembre 2014, n. 132, convertito, con modificazioni, dalla legge 10 novembre 2014, n. 162;</a:t>
            </a:r>
          </a:p>
          <a:p>
            <a:pPr marL="0" indent="0" algn="just">
              <a:buNone/>
            </a:pPr>
            <a:r>
              <a:rPr lang="it-IT" sz="4400" dirty="0"/>
              <a:t>h) «convenzione di negoziazione»: la convenzione prevista dall'art. 2, del decreto-legge n. 132 del 2014, convertito, con modificazioni, dalla legge n. 162 del 2014;</a:t>
            </a:r>
          </a:p>
          <a:p>
            <a:pPr marL="0" indent="0" algn="just">
              <a:buNone/>
            </a:pPr>
            <a:r>
              <a:rPr lang="it-IT" sz="4400" dirty="0"/>
              <a:t> i) «accordo di negoziazione»: l'accordo che compone la controversia all'esito di una procedura di negoziazione assistita da avvocati; </a:t>
            </a:r>
          </a:p>
          <a:p>
            <a:pPr marL="0" indent="0" algn="just">
              <a:buNone/>
            </a:pPr>
            <a:endParaRPr lang="it-IT" sz="4400" dirty="0"/>
          </a:p>
          <a:p>
            <a:pPr marL="0" indent="0">
              <a:buNone/>
            </a:pPr>
            <a:endParaRPr lang="it-IT" dirty="0"/>
          </a:p>
        </p:txBody>
      </p:sp>
      <p:sp>
        <p:nvSpPr>
          <p:cNvPr id="4" name="Segnaposto data 3">
            <a:extLst>
              <a:ext uri="{FF2B5EF4-FFF2-40B4-BE49-F238E27FC236}">
                <a16:creationId xmlns:a16="http://schemas.microsoft.com/office/drawing/2014/main" id="{DD0436C2-E58F-C89E-BEC7-921B14A878DE}"/>
              </a:ext>
            </a:extLst>
          </p:cNvPr>
          <p:cNvSpPr>
            <a:spLocks noGrp="1"/>
          </p:cNvSpPr>
          <p:nvPr>
            <p:ph type="dt" sz="half" idx="10"/>
          </p:nvPr>
        </p:nvSpPr>
        <p:spPr/>
        <p:txBody>
          <a:bodyPr/>
          <a:lstStyle/>
          <a:p>
            <a:fld id="{24D0E9E5-47CC-4E0C-A6CA-F429911208BB}" type="datetime1">
              <a:rPr lang="en-US" smtClean="0"/>
              <a:t>8/10/2023</a:t>
            </a:fld>
            <a:endParaRPr lang="en-US"/>
          </a:p>
        </p:txBody>
      </p:sp>
      <p:sp>
        <p:nvSpPr>
          <p:cNvPr id="5" name="Segnaposto piè di pagina 4">
            <a:extLst>
              <a:ext uri="{FF2B5EF4-FFF2-40B4-BE49-F238E27FC236}">
                <a16:creationId xmlns:a16="http://schemas.microsoft.com/office/drawing/2014/main" id="{DA603969-E61E-A531-2130-F2CC3A294935}"/>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A8D3A993-316D-0A52-F347-353E77997864}"/>
              </a:ext>
            </a:extLst>
          </p:cNvPr>
          <p:cNvSpPr>
            <a:spLocks noGrp="1"/>
          </p:cNvSpPr>
          <p:nvPr>
            <p:ph type="sldNum" sz="quarter" idx="12"/>
          </p:nvPr>
        </p:nvSpPr>
        <p:spPr/>
        <p:txBody>
          <a:bodyPr/>
          <a:lstStyle/>
          <a:p>
            <a:fld id="{5DEF7F31-0B8A-474A-B86C-91F381754329}" type="slidenum">
              <a:rPr lang="en-US" smtClean="0"/>
              <a:t>3</a:t>
            </a:fld>
            <a:endParaRPr lang="en-US"/>
          </a:p>
        </p:txBody>
      </p:sp>
    </p:spTree>
    <p:extLst>
      <p:ext uri="{BB962C8B-B14F-4D97-AF65-F5344CB8AC3E}">
        <p14:creationId xmlns:p14="http://schemas.microsoft.com/office/powerpoint/2010/main" val="2690011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C4F4784-4C9E-9796-40CF-DF40E2505CF6}"/>
              </a:ext>
            </a:extLst>
          </p:cNvPr>
          <p:cNvSpPr>
            <a:spLocks noGrp="1"/>
          </p:cNvSpPr>
          <p:nvPr>
            <p:ph type="title"/>
          </p:nvPr>
        </p:nvSpPr>
        <p:spPr>
          <a:xfrm>
            <a:off x="1077362" y="720434"/>
            <a:ext cx="9950103" cy="441101"/>
          </a:xfrm>
        </p:spPr>
        <p:txBody>
          <a:bodyPr>
            <a:normAutofit fontScale="90000"/>
          </a:bodyPr>
          <a:lstStyle/>
          <a:p>
            <a:pPr algn="ctr"/>
            <a:r>
              <a:rPr lang="nn-NO" dirty="0"/>
              <a:t>Art. 2 c. 1 lett. l-v</a:t>
            </a:r>
            <a:endParaRPr lang="it-IT" dirty="0"/>
          </a:p>
        </p:txBody>
      </p:sp>
      <p:sp>
        <p:nvSpPr>
          <p:cNvPr id="3" name="Segnaposto contenuto 2">
            <a:extLst>
              <a:ext uri="{FF2B5EF4-FFF2-40B4-BE49-F238E27FC236}">
                <a16:creationId xmlns:a16="http://schemas.microsoft.com/office/drawing/2014/main" id="{0F77732D-AE1F-88F9-C0ED-95F4936DB5AE}"/>
              </a:ext>
            </a:extLst>
          </p:cNvPr>
          <p:cNvSpPr>
            <a:spLocks noGrp="1"/>
          </p:cNvSpPr>
          <p:nvPr>
            <p:ph idx="1"/>
          </p:nvPr>
        </p:nvSpPr>
        <p:spPr>
          <a:xfrm>
            <a:off x="1077362" y="1359243"/>
            <a:ext cx="9950103" cy="4581587"/>
          </a:xfrm>
        </p:spPr>
        <p:txBody>
          <a:bodyPr>
            <a:normAutofit fontScale="25000" lnSpcReduction="20000"/>
          </a:bodyPr>
          <a:lstStyle/>
          <a:p>
            <a:pPr marL="0" indent="0" algn="just">
              <a:buNone/>
            </a:pPr>
            <a:r>
              <a:rPr lang="it-IT" sz="4800" dirty="0"/>
              <a:t>l) «COA»: il Consiglio dell'ordine degli avvocati davanti al quale si svolge la procedura prevista dagli articoli e da 15-bis a 15-undecies del decreto legislativo n. 28 del 2010 e dagli articoli</a:t>
            </a:r>
          </a:p>
          <a:p>
            <a:pPr marL="0" indent="0" algn="just">
              <a:buNone/>
            </a:pPr>
            <a:r>
              <a:rPr lang="it-IT" sz="4800" dirty="0"/>
              <a:t>da 11-bis a 11-undecies del decreto-legge n. 132 del 2014, convertito, con modificazioni, dalla legge n. 162 del 2014;</a:t>
            </a:r>
          </a:p>
          <a:p>
            <a:pPr marL="0" indent="0" algn="just">
              <a:buNone/>
            </a:pPr>
            <a:r>
              <a:rPr lang="it-IT" sz="4800" dirty="0"/>
              <a:t> m) «piattaforma»: la piattaforma digitale per la gestione delle richieste relative al patrocinio a spese dello Stato nella mediazione e nella negoziazione assistita predisposta dal Ministero della giustizia - Dipartimento transizione digitale;</a:t>
            </a:r>
          </a:p>
          <a:p>
            <a:pPr marL="0" indent="0" algn="just">
              <a:buNone/>
            </a:pPr>
            <a:r>
              <a:rPr lang="it-IT" sz="4800" dirty="0"/>
              <a:t> n) «CIEId»: l'identità digitale rilasciata al cittadino e associata alla Carta d'identità elettronica;</a:t>
            </a:r>
          </a:p>
          <a:p>
            <a:pPr marL="0" indent="0" algn="just">
              <a:buNone/>
            </a:pPr>
            <a:r>
              <a:rPr lang="it-IT" sz="4800" dirty="0"/>
              <a:t> o) «CNS»: carta nazionale dei servizi. Il documento rilasciato su supporto informatico per consentire l'accesso per via a telematica ai servizi erogati dalle pubbliche amministrazioni;</a:t>
            </a:r>
          </a:p>
          <a:p>
            <a:pPr marL="0" indent="0" algn="just">
              <a:buNone/>
            </a:pPr>
            <a:r>
              <a:rPr lang="it-IT" sz="4800" dirty="0"/>
              <a:t> p) «SPID»: il sistema pubblico dell'identità digitale, di cui all'art. 64 del decreto legislativo 7 marzo 2005, n. 83 «Codice dell'amministrazione digitale»;</a:t>
            </a:r>
          </a:p>
          <a:p>
            <a:pPr marL="0" indent="0" algn="just">
              <a:buNone/>
            </a:pPr>
            <a:r>
              <a:rPr lang="it-IT" sz="4800" dirty="0"/>
              <a:t> q) «PEC»: posta elettronica certificata. Il sistema di comunicazione in grado di attestare l'invio e l'avvenuta consegna di un messaggio di posta elettronica e di fornire ricevute opponibili ai terzi;</a:t>
            </a:r>
          </a:p>
          <a:p>
            <a:pPr marL="0" indent="0" algn="just">
              <a:buNone/>
            </a:pPr>
            <a:r>
              <a:rPr lang="it-IT" sz="4800" dirty="0"/>
              <a:t> r) «Codice </a:t>
            </a:r>
            <a:r>
              <a:rPr lang="it-IT" sz="4800" dirty="0" err="1"/>
              <a:t>iPA</a:t>
            </a:r>
            <a:r>
              <a:rPr lang="it-IT" sz="4800" dirty="0"/>
              <a:t>»: l'indice dei riferimenti univoci dell'ufficio pubblico competente per l'emissione della fattura elettronica e il suo indirizzamento;</a:t>
            </a:r>
          </a:p>
          <a:p>
            <a:pPr marL="0" indent="0" algn="just">
              <a:buNone/>
            </a:pPr>
            <a:r>
              <a:rPr lang="it-IT" sz="4800" dirty="0"/>
              <a:t> s) «Ministero»: il Ministero della giustizia - Dipartimento per gli affari di giustizia;</a:t>
            </a:r>
          </a:p>
          <a:p>
            <a:pPr marL="0" indent="0" algn="just">
              <a:buNone/>
            </a:pPr>
            <a:r>
              <a:rPr lang="it-IT" sz="4800" dirty="0"/>
              <a:t> t) «DGSTAT»: Direzione generale di statistica e analisi organizzativa del Ministero;</a:t>
            </a:r>
          </a:p>
          <a:p>
            <a:pPr marL="0" indent="0" algn="just">
              <a:buNone/>
            </a:pPr>
            <a:r>
              <a:rPr lang="it-IT" sz="4800" dirty="0"/>
              <a:t> u) «Equitalia»: Equitalia Giustizia S.p.a., società in house del Ministero della giustizia;</a:t>
            </a:r>
          </a:p>
          <a:p>
            <a:pPr marL="0" indent="0" algn="just">
              <a:buNone/>
            </a:pPr>
            <a:r>
              <a:rPr lang="it-IT" sz="4800" dirty="0"/>
              <a:t> v) «SID»: Sistema interscambio flussi dati. L'infrastruttura trasmissiva dell'Agenzia delle entrate, dedicata allo scambio automatizzato di flussi dati con amministrazioni, società, enti e ditte individuali. </a:t>
            </a:r>
          </a:p>
          <a:p>
            <a:pPr marL="0" indent="0">
              <a:buNone/>
            </a:pPr>
            <a:endParaRPr lang="it-IT" dirty="0"/>
          </a:p>
        </p:txBody>
      </p:sp>
      <p:sp>
        <p:nvSpPr>
          <p:cNvPr id="4" name="Segnaposto data 3">
            <a:extLst>
              <a:ext uri="{FF2B5EF4-FFF2-40B4-BE49-F238E27FC236}">
                <a16:creationId xmlns:a16="http://schemas.microsoft.com/office/drawing/2014/main" id="{95537118-E7A5-D377-CF02-A0D7A7B58FBC}"/>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1F313617-7FCF-0FBA-7A8B-EDB298E953B6}"/>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75A8201C-1C5F-525E-479C-A1B37829C685}"/>
              </a:ext>
            </a:extLst>
          </p:cNvPr>
          <p:cNvSpPr>
            <a:spLocks noGrp="1"/>
          </p:cNvSpPr>
          <p:nvPr>
            <p:ph type="sldNum" sz="quarter" idx="12"/>
          </p:nvPr>
        </p:nvSpPr>
        <p:spPr/>
        <p:txBody>
          <a:bodyPr/>
          <a:lstStyle/>
          <a:p>
            <a:fld id="{5DEF7F31-0B8A-474A-B86C-91F381754329}" type="slidenum">
              <a:rPr lang="en-US" smtClean="0"/>
              <a:t>4</a:t>
            </a:fld>
            <a:endParaRPr lang="en-US"/>
          </a:p>
        </p:txBody>
      </p:sp>
    </p:spTree>
    <p:extLst>
      <p:ext uri="{BB962C8B-B14F-4D97-AF65-F5344CB8AC3E}">
        <p14:creationId xmlns:p14="http://schemas.microsoft.com/office/powerpoint/2010/main" val="1282390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4BDE394-D4EE-7546-C64E-C41D109AE7A7}"/>
              </a:ext>
            </a:extLst>
          </p:cNvPr>
          <p:cNvSpPr>
            <a:spLocks noGrp="1"/>
          </p:cNvSpPr>
          <p:nvPr>
            <p:ph type="title"/>
          </p:nvPr>
        </p:nvSpPr>
        <p:spPr>
          <a:xfrm>
            <a:off x="1077362" y="720434"/>
            <a:ext cx="9950103" cy="577025"/>
          </a:xfrm>
        </p:spPr>
        <p:txBody>
          <a:bodyPr>
            <a:normAutofit fontScale="90000"/>
          </a:bodyPr>
          <a:lstStyle/>
          <a:p>
            <a:pPr algn="ctr"/>
            <a:r>
              <a:rPr lang="it-IT" dirty="0"/>
              <a:t>Art. 3</a:t>
            </a:r>
          </a:p>
        </p:txBody>
      </p:sp>
      <p:sp>
        <p:nvSpPr>
          <p:cNvPr id="3" name="Segnaposto contenuto 2">
            <a:extLst>
              <a:ext uri="{FF2B5EF4-FFF2-40B4-BE49-F238E27FC236}">
                <a16:creationId xmlns:a16="http://schemas.microsoft.com/office/drawing/2014/main" id="{C669943F-4BB2-2B39-8FA7-42C444F20E05}"/>
              </a:ext>
            </a:extLst>
          </p:cNvPr>
          <p:cNvSpPr>
            <a:spLocks noGrp="1"/>
          </p:cNvSpPr>
          <p:nvPr>
            <p:ph idx="1"/>
          </p:nvPr>
        </p:nvSpPr>
        <p:spPr>
          <a:xfrm>
            <a:off x="1077362" y="1340708"/>
            <a:ext cx="9950103" cy="4600122"/>
          </a:xfrm>
        </p:spPr>
        <p:txBody>
          <a:bodyPr>
            <a:normAutofit fontScale="77500" lnSpcReduction="20000"/>
          </a:bodyPr>
          <a:lstStyle/>
          <a:p>
            <a:pPr marL="0" indent="0" algn="just">
              <a:buNone/>
            </a:pPr>
            <a:r>
              <a:rPr lang="it-IT" dirty="0"/>
              <a:t>Disposizioni generali sulle modalità di presentazione della domanda di attribuzione del credito di imposta e comunicazioni</a:t>
            </a:r>
          </a:p>
          <a:p>
            <a:pPr marL="0" indent="0" algn="just">
              <a:buNone/>
            </a:pPr>
            <a:r>
              <a:rPr lang="it-IT" dirty="0"/>
              <a:t> 1. Le istanze disciplinate dal presente decreto sono proposte, a pena di inammissibilità, tramite la piattaforma accessibile dal sito giustizia.it, mediante le credenziali SPID o CIEId almeno di livello due e CNS.</a:t>
            </a:r>
          </a:p>
          <a:p>
            <a:pPr marL="0" indent="0" algn="just">
              <a:buNone/>
            </a:pPr>
            <a:r>
              <a:rPr lang="it-IT" dirty="0"/>
              <a:t> 2. Ciascun richiedente, al momento della presentazione della domanda, è adeguatamente informato, ai sensi degli articoli 13 e 14 del regolamento (UE) n. 2016/679 del Parlamento europeo e del Consiglio del 27 aprile 2016, sul trattamento dei propri dati personali per la valutazione della domanda di determinazione del compenso, del riconoscimento del credito di imposta o della richiesta</a:t>
            </a:r>
          </a:p>
          <a:p>
            <a:pPr marL="0" indent="0" algn="just">
              <a:buNone/>
            </a:pPr>
            <a:r>
              <a:rPr lang="it-IT" dirty="0"/>
              <a:t>di pagamento.</a:t>
            </a:r>
          </a:p>
          <a:p>
            <a:pPr marL="0" indent="0" algn="just">
              <a:buNone/>
            </a:pPr>
            <a:r>
              <a:rPr lang="it-IT" dirty="0"/>
              <a:t> 3. Salvo che sia diversamente disposto, tutte le comunicazioni previste dal presente decreto sono effettuate mediante la piattaforma di cui al comma 1, all'indirizzo di posta elettronica certificata indicato dal richiedente.</a:t>
            </a:r>
          </a:p>
          <a:p>
            <a:pPr marL="0" indent="0" algn="just">
              <a:buNone/>
            </a:pPr>
            <a:r>
              <a:rPr lang="it-IT" dirty="0"/>
              <a:t> 4. Ai fini dell'applicazione del presente decreto, il COA accede alla piattaforma previa registrazione, ai sensi degli articoli 16, comma 12, e 16-ter del decreto-legge 18 gennaio 2012, n. 179, convertito, con modificazioni, dalla legge 17 dicembre 2012, n. 221.</a:t>
            </a:r>
          </a:p>
          <a:p>
            <a:pPr marL="0" indent="0" algn="just">
              <a:buNone/>
            </a:pPr>
            <a:r>
              <a:rPr lang="it-IT" dirty="0"/>
              <a:t> 5. Il possesso dei requisiti richiesti dal presente decreto è attestato dalla parte richiedente ai sensi degli articoli 46 e 47 del decreto del Presidente della Repubblica 28 dicembre 2000, n. 445, recante testo unico delle disposizioni legislative e regolamentari in materia di documentazione amministrativa. </a:t>
            </a:r>
          </a:p>
        </p:txBody>
      </p:sp>
      <p:sp>
        <p:nvSpPr>
          <p:cNvPr id="4" name="Segnaposto data 3">
            <a:extLst>
              <a:ext uri="{FF2B5EF4-FFF2-40B4-BE49-F238E27FC236}">
                <a16:creationId xmlns:a16="http://schemas.microsoft.com/office/drawing/2014/main" id="{6951C8F5-0328-CDC0-2681-71ED22333921}"/>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FB13B64F-3833-02EC-379C-9398CF8583CA}"/>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FFF235D3-89B5-6C74-A486-AF1BBE4FDF67}"/>
              </a:ext>
            </a:extLst>
          </p:cNvPr>
          <p:cNvSpPr>
            <a:spLocks noGrp="1"/>
          </p:cNvSpPr>
          <p:nvPr>
            <p:ph type="sldNum" sz="quarter" idx="12"/>
          </p:nvPr>
        </p:nvSpPr>
        <p:spPr/>
        <p:txBody>
          <a:bodyPr/>
          <a:lstStyle/>
          <a:p>
            <a:fld id="{5DEF7F31-0B8A-474A-B86C-91F381754329}" type="slidenum">
              <a:rPr lang="en-US" smtClean="0"/>
              <a:t>5</a:t>
            </a:fld>
            <a:endParaRPr lang="en-US"/>
          </a:p>
        </p:txBody>
      </p:sp>
    </p:spTree>
    <p:extLst>
      <p:ext uri="{BB962C8B-B14F-4D97-AF65-F5344CB8AC3E}">
        <p14:creationId xmlns:p14="http://schemas.microsoft.com/office/powerpoint/2010/main" val="394521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0A3502-DB4D-77D9-2358-C6B5ECF8B34F}"/>
              </a:ext>
            </a:extLst>
          </p:cNvPr>
          <p:cNvSpPr>
            <a:spLocks noGrp="1"/>
          </p:cNvSpPr>
          <p:nvPr>
            <p:ph type="title"/>
          </p:nvPr>
        </p:nvSpPr>
        <p:spPr>
          <a:xfrm>
            <a:off x="1305962" y="3185607"/>
            <a:ext cx="9950103" cy="2127798"/>
          </a:xfrm>
        </p:spPr>
        <p:txBody>
          <a:bodyPr>
            <a:normAutofit fontScale="90000"/>
          </a:bodyPr>
          <a:lstStyle/>
          <a:p>
            <a:pPr algn="just"/>
            <a:br>
              <a:rPr lang="it-IT" dirty="0"/>
            </a:br>
            <a:br>
              <a:rPr lang="it-IT" dirty="0"/>
            </a:br>
            <a:br>
              <a:rPr lang="it-IT" dirty="0"/>
            </a:br>
            <a:br>
              <a:rPr lang="it-IT" dirty="0"/>
            </a:br>
            <a:br>
              <a:rPr lang="it-IT" dirty="0"/>
            </a:br>
            <a:r>
              <a:rPr lang="it-IT" dirty="0"/>
              <a:t>Sezione I</a:t>
            </a:r>
            <a:br>
              <a:rPr lang="it-IT" dirty="0"/>
            </a:br>
            <a:r>
              <a:rPr lang="it-IT" dirty="0"/>
              <a:t>Determinazione del compenso spettante all'avvocato della parte ammessa al patrocinio a spese dello Stato</a:t>
            </a:r>
            <a:br>
              <a:rPr lang="it-IT" dirty="0"/>
            </a:br>
            <a:r>
              <a:rPr lang="it-IT" dirty="0"/>
              <a:t>per l'assistenza prestata nelle procedure di mediazione e di negoziazione assistita che si sono concluse con un accordo, procedura di riconoscimento e presentazione della domanda di attribuzione del credito di imposta</a:t>
            </a:r>
          </a:p>
        </p:txBody>
      </p:sp>
      <p:sp>
        <p:nvSpPr>
          <p:cNvPr id="4" name="Segnaposto data 3">
            <a:extLst>
              <a:ext uri="{FF2B5EF4-FFF2-40B4-BE49-F238E27FC236}">
                <a16:creationId xmlns:a16="http://schemas.microsoft.com/office/drawing/2014/main" id="{C312D3F7-1E94-82B2-F6CD-BD0302736A0C}"/>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42B58C0D-A80F-50D4-F115-9420D28C6854}"/>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7035B043-8112-9001-6D6A-6505274B367E}"/>
              </a:ext>
            </a:extLst>
          </p:cNvPr>
          <p:cNvSpPr>
            <a:spLocks noGrp="1"/>
          </p:cNvSpPr>
          <p:nvPr>
            <p:ph type="sldNum" sz="quarter" idx="12"/>
          </p:nvPr>
        </p:nvSpPr>
        <p:spPr/>
        <p:txBody>
          <a:bodyPr/>
          <a:lstStyle/>
          <a:p>
            <a:fld id="{5DEF7F31-0B8A-474A-B86C-91F381754329}" type="slidenum">
              <a:rPr lang="en-US" smtClean="0"/>
              <a:t>6</a:t>
            </a:fld>
            <a:endParaRPr lang="en-US"/>
          </a:p>
        </p:txBody>
      </p:sp>
    </p:spTree>
    <p:extLst>
      <p:ext uri="{BB962C8B-B14F-4D97-AF65-F5344CB8AC3E}">
        <p14:creationId xmlns:p14="http://schemas.microsoft.com/office/powerpoint/2010/main" val="574772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6C1C409-F50C-851B-F469-83EF7B6EAD6F}"/>
              </a:ext>
            </a:extLst>
          </p:cNvPr>
          <p:cNvSpPr>
            <a:spLocks noGrp="1"/>
          </p:cNvSpPr>
          <p:nvPr>
            <p:ph type="title"/>
          </p:nvPr>
        </p:nvSpPr>
        <p:spPr>
          <a:xfrm>
            <a:off x="1077362" y="720434"/>
            <a:ext cx="9950103" cy="700593"/>
          </a:xfrm>
        </p:spPr>
        <p:txBody>
          <a:bodyPr/>
          <a:lstStyle/>
          <a:p>
            <a:pPr algn="ctr"/>
            <a:r>
              <a:rPr lang="it-IT" dirty="0"/>
              <a:t>Art. 4</a:t>
            </a:r>
          </a:p>
        </p:txBody>
      </p:sp>
      <p:sp>
        <p:nvSpPr>
          <p:cNvPr id="3" name="Segnaposto contenuto 2">
            <a:extLst>
              <a:ext uri="{FF2B5EF4-FFF2-40B4-BE49-F238E27FC236}">
                <a16:creationId xmlns:a16="http://schemas.microsoft.com/office/drawing/2014/main" id="{9CF4AC9F-3496-0EEE-F45D-BC6C34429119}"/>
              </a:ext>
            </a:extLst>
          </p:cNvPr>
          <p:cNvSpPr>
            <a:spLocks noGrp="1"/>
          </p:cNvSpPr>
          <p:nvPr>
            <p:ph idx="1"/>
          </p:nvPr>
        </p:nvSpPr>
        <p:spPr>
          <a:xfrm>
            <a:off x="1077362" y="1736124"/>
            <a:ext cx="9950103" cy="4204706"/>
          </a:xfrm>
        </p:spPr>
        <p:txBody>
          <a:bodyPr>
            <a:normAutofit/>
          </a:bodyPr>
          <a:lstStyle/>
          <a:p>
            <a:pPr marL="0" indent="0" algn="just">
              <a:buNone/>
            </a:pPr>
            <a:r>
              <a:rPr lang="it-IT" sz="3200" dirty="0"/>
              <a:t>1. Ai fini del presente decreto all'avvocato che assiste la parte ammessa al patrocinio a spese dello Stato nei procedimenti di mediazione e negoziazione assistita spetta il compenso previsto dall'art. 20, comma 1-bis del decreto del Ministro della giustizia 10 marzo 2014, n. 55, ridotto della metà. </a:t>
            </a:r>
          </a:p>
          <a:p>
            <a:pPr marL="0" indent="0">
              <a:buNone/>
            </a:pPr>
            <a:endParaRPr lang="it-IT" dirty="0"/>
          </a:p>
        </p:txBody>
      </p:sp>
      <p:sp>
        <p:nvSpPr>
          <p:cNvPr id="4" name="Segnaposto data 3">
            <a:extLst>
              <a:ext uri="{FF2B5EF4-FFF2-40B4-BE49-F238E27FC236}">
                <a16:creationId xmlns:a16="http://schemas.microsoft.com/office/drawing/2014/main" id="{66F87BCD-6AF6-8BFE-5CFE-B34F688858E1}"/>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7DAFEA4F-1FB3-A42A-5EFF-3AC43A26261E}"/>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50899439-C861-7B45-5511-FFEF068C0EFE}"/>
              </a:ext>
            </a:extLst>
          </p:cNvPr>
          <p:cNvSpPr>
            <a:spLocks noGrp="1"/>
          </p:cNvSpPr>
          <p:nvPr>
            <p:ph type="sldNum" sz="quarter" idx="12"/>
          </p:nvPr>
        </p:nvSpPr>
        <p:spPr/>
        <p:txBody>
          <a:bodyPr/>
          <a:lstStyle/>
          <a:p>
            <a:fld id="{5DEF7F31-0B8A-474A-B86C-91F381754329}" type="slidenum">
              <a:rPr lang="en-US" smtClean="0"/>
              <a:t>7</a:t>
            </a:fld>
            <a:endParaRPr lang="en-US"/>
          </a:p>
        </p:txBody>
      </p:sp>
    </p:spTree>
    <p:extLst>
      <p:ext uri="{BB962C8B-B14F-4D97-AF65-F5344CB8AC3E}">
        <p14:creationId xmlns:p14="http://schemas.microsoft.com/office/powerpoint/2010/main" val="314381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3532C23-5181-514B-0BEE-0ECDC6E9CF81}"/>
              </a:ext>
            </a:extLst>
          </p:cNvPr>
          <p:cNvSpPr>
            <a:spLocks noGrp="1"/>
          </p:cNvSpPr>
          <p:nvPr>
            <p:ph type="title"/>
          </p:nvPr>
        </p:nvSpPr>
        <p:spPr>
          <a:xfrm>
            <a:off x="1077362" y="720434"/>
            <a:ext cx="9950103" cy="768555"/>
          </a:xfrm>
        </p:spPr>
        <p:txBody>
          <a:bodyPr/>
          <a:lstStyle/>
          <a:p>
            <a:pPr algn="ctr"/>
            <a:r>
              <a:rPr lang="it-IT" dirty="0"/>
              <a:t>Art. 5 c. 1 lett. a-e</a:t>
            </a:r>
          </a:p>
        </p:txBody>
      </p:sp>
      <p:sp>
        <p:nvSpPr>
          <p:cNvPr id="3" name="Segnaposto contenuto 2">
            <a:extLst>
              <a:ext uri="{FF2B5EF4-FFF2-40B4-BE49-F238E27FC236}">
                <a16:creationId xmlns:a16="http://schemas.microsoft.com/office/drawing/2014/main" id="{3059E9D8-6586-6016-5775-01CBDA1BBCC8}"/>
              </a:ext>
            </a:extLst>
          </p:cNvPr>
          <p:cNvSpPr>
            <a:spLocks noGrp="1"/>
          </p:cNvSpPr>
          <p:nvPr>
            <p:ph idx="1"/>
          </p:nvPr>
        </p:nvSpPr>
        <p:spPr>
          <a:xfrm>
            <a:off x="1077362" y="1674341"/>
            <a:ext cx="9950103" cy="4266489"/>
          </a:xfrm>
        </p:spPr>
        <p:txBody>
          <a:bodyPr>
            <a:normAutofit fontScale="77500" lnSpcReduction="20000"/>
          </a:bodyPr>
          <a:lstStyle/>
          <a:p>
            <a:pPr marL="0" indent="0" algn="just">
              <a:buNone/>
            </a:pPr>
            <a:r>
              <a:rPr lang="it-IT" dirty="0"/>
              <a:t>Istanza di conferma dell'ammissione anticipata al patrocinio a spese  dello Stato</a:t>
            </a:r>
          </a:p>
          <a:p>
            <a:pPr marL="0" indent="0" algn="just">
              <a:buNone/>
            </a:pPr>
            <a:r>
              <a:rPr lang="it-IT" dirty="0"/>
              <a:t> 1. L'istanza di conferma prevista dall'art. 15-septies, commi 3 e 4, del decreto legislativo n. 28 del 2010 e dall'art. 11-septies, commi 2 e 3, del decreto-legge n. 132 del 2014, convertito, con</a:t>
            </a:r>
          </a:p>
          <a:p>
            <a:pPr marL="0" indent="0" algn="just">
              <a:buNone/>
            </a:pPr>
            <a:r>
              <a:rPr lang="it-IT" dirty="0"/>
              <a:t>modificazioni, dalla legge n. 162 del 2014, contiene:</a:t>
            </a:r>
          </a:p>
          <a:p>
            <a:pPr marL="0" indent="0" algn="just">
              <a:buNone/>
            </a:pPr>
            <a:r>
              <a:rPr lang="it-IT" dirty="0"/>
              <a:t> a) gli estremi identificativi del COA che ha adottato il provvedimento di ammissione anticipata al patrocinio a spese dello Stato;</a:t>
            </a:r>
          </a:p>
          <a:p>
            <a:pPr marL="0" indent="0" algn="just">
              <a:buNone/>
            </a:pPr>
            <a:r>
              <a:rPr lang="it-IT" dirty="0"/>
              <a:t> b) le generalità della parte assistita dal richiedente, ammessa al patrocinio a spese dello Stato, complete di codice fiscale;</a:t>
            </a:r>
          </a:p>
          <a:p>
            <a:pPr marL="0" indent="0" algn="just">
              <a:buNone/>
            </a:pPr>
            <a:r>
              <a:rPr lang="it-IT" dirty="0"/>
              <a:t> c) il valore e la data di sottoscrizione dell'accordo di conciliazione o di negoziazione sulla base del quale il richiedente</a:t>
            </a:r>
          </a:p>
          <a:p>
            <a:pPr marL="0" indent="0" algn="just">
              <a:buNone/>
            </a:pPr>
            <a:r>
              <a:rPr lang="it-IT" dirty="0"/>
              <a:t>ha calcolato il proprio compenso;</a:t>
            </a:r>
          </a:p>
          <a:p>
            <a:pPr marL="0" indent="0" algn="just">
              <a:buNone/>
            </a:pPr>
            <a:r>
              <a:rPr lang="it-IT" dirty="0"/>
              <a:t> d) l'indicazione della materia, a fini statistici, ai sensi dell'art. 42 del decreto legislativo 10 ottobre 2022, n. 149, quando</a:t>
            </a:r>
          </a:p>
          <a:p>
            <a:pPr marL="0" indent="0" algn="just">
              <a:buNone/>
            </a:pPr>
            <a:r>
              <a:rPr lang="it-IT" dirty="0"/>
              <a:t>l'accordo definisce una controversia nei casi di cui all'art. 5, comma 1, del decreto legislativo n. 28 del 2010; </a:t>
            </a:r>
          </a:p>
          <a:p>
            <a:pPr marL="0" indent="0" algn="just">
              <a:buNone/>
            </a:pPr>
            <a:r>
              <a:rPr lang="it-IT" dirty="0"/>
              <a:t>e) il numero del procedimento di mediazione e la data dell'accordo di conciliazione quali risultanti dai registri degli affari di mediazione; </a:t>
            </a:r>
          </a:p>
          <a:p>
            <a:pPr marL="0" indent="0">
              <a:buNone/>
            </a:pPr>
            <a:endParaRPr lang="it-IT" dirty="0"/>
          </a:p>
        </p:txBody>
      </p:sp>
      <p:sp>
        <p:nvSpPr>
          <p:cNvPr id="4" name="Segnaposto data 3">
            <a:extLst>
              <a:ext uri="{FF2B5EF4-FFF2-40B4-BE49-F238E27FC236}">
                <a16:creationId xmlns:a16="http://schemas.microsoft.com/office/drawing/2014/main" id="{ECC983A9-9286-19DF-3572-C4DD819152AC}"/>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2AA0AF92-9B27-BD8E-C4DB-5ED0954E849C}"/>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E1004C25-59EF-9738-B450-5E80F14F6E02}"/>
              </a:ext>
            </a:extLst>
          </p:cNvPr>
          <p:cNvSpPr>
            <a:spLocks noGrp="1"/>
          </p:cNvSpPr>
          <p:nvPr>
            <p:ph type="sldNum" sz="quarter" idx="12"/>
          </p:nvPr>
        </p:nvSpPr>
        <p:spPr/>
        <p:txBody>
          <a:bodyPr/>
          <a:lstStyle/>
          <a:p>
            <a:fld id="{5DEF7F31-0B8A-474A-B86C-91F381754329}" type="slidenum">
              <a:rPr lang="en-US" smtClean="0"/>
              <a:t>8</a:t>
            </a:fld>
            <a:endParaRPr lang="en-US"/>
          </a:p>
        </p:txBody>
      </p:sp>
    </p:spTree>
    <p:extLst>
      <p:ext uri="{BB962C8B-B14F-4D97-AF65-F5344CB8AC3E}">
        <p14:creationId xmlns:p14="http://schemas.microsoft.com/office/powerpoint/2010/main" val="2394043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7D9F858-00BF-40E8-3997-0990681DB672}"/>
              </a:ext>
            </a:extLst>
          </p:cNvPr>
          <p:cNvSpPr>
            <a:spLocks noGrp="1"/>
          </p:cNvSpPr>
          <p:nvPr>
            <p:ph type="title"/>
          </p:nvPr>
        </p:nvSpPr>
        <p:spPr>
          <a:xfrm>
            <a:off x="1077362" y="917169"/>
            <a:ext cx="9950103" cy="354604"/>
          </a:xfrm>
        </p:spPr>
        <p:txBody>
          <a:bodyPr>
            <a:normAutofit fontScale="90000"/>
          </a:bodyPr>
          <a:lstStyle/>
          <a:p>
            <a:pPr algn="ctr"/>
            <a:r>
              <a:rPr lang="en-US" dirty="0"/>
              <a:t>Art. 5 c. 1 lett. f-e</a:t>
            </a:r>
            <a:br>
              <a:rPr lang="en-US" dirty="0"/>
            </a:br>
            <a:endParaRPr lang="it-IT" dirty="0"/>
          </a:p>
        </p:txBody>
      </p:sp>
      <p:sp>
        <p:nvSpPr>
          <p:cNvPr id="3" name="Segnaposto contenuto 2">
            <a:extLst>
              <a:ext uri="{FF2B5EF4-FFF2-40B4-BE49-F238E27FC236}">
                <a16:creationId xmlns:a16="http://schemas.microsoft.com/office/drawing/2014/main" id="{A4ECEF67-763E-5F21-FE6D-6550078373FE}"/>
              </a:ext>
            </a:extLst>
          </p:cNvPr>
          <p:cNvSpPr>
            <a:spLocks noGrp="1"/>
          </p:cNvSpPr>
          <p:nvPr>
            <p:ph idx="1"/>
          </p:nvPr>
        </p:nvSpPr>
        <p:spPr>
          <a:xfrm>
            <a:off x="1077362" y="877331"/>
            <a:ext cx="9950103" cy="5063500"/>
          </a:xfrm>
        </p:spPr>
        <p:txBody>
          <a:bodyPr>
            <a:normAutofit/>
          </a:bodyPr>
          <a:lstStyle/>
          <a:p>
            <a:pPr marL="0" indent="0" algn="just">
              <a:buNone/>
            </a:pPr>
            <a:r>
              <a:rPr lang="it-IT" dirty="0"/>
              <a:t>f) fuori dal caso di cui alla lettera e), gli estremi della ricevuta attestante la trasmissione, mediante piattaforma del Consiglio nazionale forense, dell'accordo di negoziazione, in conformità all'art. 11, comma 1, del decreto-legge n. 132 del 2014, convertito, con modificazioni, dalla legge n. 162 del 2014;</a:t>
            </a:r>
          </a:p>
          <a:p>
            <a:pPr marL="0" indent="0" algn="just">
              <a:buNone/>
            </a:pPr>
            <a:r>
              <a:rPr lang="it-IT" dirty="0"/>
              <a:t> g) la dichiarazione di volontà del richiedente di avvalersi, alternativamente, del credito di imposta o del pagamento.</a:t>
            </a:r>
          </a:p>
          <a:p>
            <a:pPr marL="0" indent="0" algn="just">
              <a:buNone/>
            </a:pPr>
            <a:r>
              <a:rPr lang="it-IT" dirty="0"/>
              <a:t> 2. L'istanza di cui al comma 1 è inoltre corredata:</a:t>
            </a:r>
          </a:p>
          <a:p>
            <a:pPr marL="0" indent="0" algn="just">
              <a:buNone/>
            </a:pPr>
            <a:r>
              <a:rPr lang="it-IT" dirty="0"/>
              <a:t> a) dalla parcella proforma emessa per le prestazioni svolte in favore della parte ammessa al patrocinio a spese dello Stato;</a:t>
            </a:r>
          </a:p>
          <a:p>
            <a:pPr marL="0" indent="0" algn="just">
              <a:buNone/>
            </a:pPr>
            <a:r>
              <a:rPr lang="it-IT" dirty="0"/>
              <a:t> b) dalla dichiarazione della parte ammessa al patrocinio in ordine alla permanenza, al momento dell'accordo, delle condizioni reddituali previste dall'art. 15-ter del decreto legislativo n. 28 del 2010 e dall'art. 11-ter del decreto-legge n. 132 del 2014, convertito, con modificazioni, dalla legge n. 162 del 2014.</a:t>
            </a:r>
          </a:p>
        </p:txBody>
      </p:sp>
      <p:sp>
        <p:nvSpPr>
          <p:cNvPr id="4" name="Segnaposto data 3">
            <a:extLst>
              <a:ext uri="{FF2B5EF4-FFF2-40B4-BE49-F238E27FC236}">
                <a16:creationId xmlns:a16="http://schemas.microsoft.com/office/drawing/2014/main" id="{43876A14-86AB-5304-F654-A6E0E1DB0315}"/>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C78ED5CB-74E3-6CEE-6E47-58D29FBDAE20}"/>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A788A297-D65A-5674-F312-19C4C21ED7E3}"/>
              </a:ext>
            </a:extLst>
          </p:cNvPr>
          <p:cNvSpPr>
            <a:spLocks noGrp="1"/>
          </p:cNvSpPr>
          <p:nvPr>
            <p:ph type="sldNum" sz="quarter" idx="12"/>
          </p:nvPr>
        </p:nvSpPr>
        <p:spPr/>
        <p:txBody>
          <a:bodyPr/>
          <a:lstStyle/>
          <a:p>
            <a:fld id="{5DEF7F31-0B8A-474A-B86C-91F381754329}" type="slidenum">
              <a:rPr lang="en-US" smtClean="0"/>
              <a:t>9</a:t>
            </a:fld>
            <a:endParaRPr lang="en-US"/>
          </a:p>
        </p:txBody>
      </p:sp>
    </p:spTree>
    <p:extLst>
      <p:ext uri="{BB962C8B-B14F-4D97-AF65-F5344CB8AC3E}">
        <p14:creationId xmlns:p14="http://schemas.microsoft.com/office/powerpoint/2010/main" val="2360053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9B6C7C-CFB6-924B-3857-0081E0173F2B}"/>
              </a:ext>
            </a:extLst>
          </p:cNvPr>
          <p:cNvSpPr>
            <a:spLocks noGrp="1"/>
          </p:cNvSpPr>
          <p:nvPr>
            <p:ph type="title"/>
          </p:nvPr>
        </p:nvSpPr>
        <p:spPr>
          <a:xfrm>
            <a:off x="1077362" y="444844"/>
            <a:ext cx="9950103" cy="647160"/>
          </a:xfrm>
        </p:spPr>
        <p:txBody>
          <a:bodyPr>
            <a:normAutofit fontScale="90000"/>
          </a:bodyPr>
          <a:lstStyle/>
          <a:p>
            <a:pPr algn="ctr"/>
            <a:r>
              <a:rPr lang="it-IT" dirty="0"/>
              <a:t>Art. 6 </a:t>
            </a:r>
            <a:br>
              <a:rPr lang="it-IT" dirty="0"/>
            </a:br>
            <a:endParaRPr lang="it-IT" dirty="0"/>
          </a:p>
        </p:txBody>
      </p:sp>
      <p:sp>
        <p:nvSpPr>
          <p:cNvPr id="3" name="Segnaposto contenuto 2">
            <a:extLst>
              <a:ext uri="{FF2B5EF4-FFF2-40B4-BE49-F238E27FC236}">
                <a16:creationId xmlns:a16="http://schemas.microsoft.com/office/drawing/2014/main" id="{BC4D7798-86B8-FEE5-E475-B394067941D4}"/>
              </a:ext>
            </a:extLst>
          </p:cNvPr>
          <p:cNvSpPr>
            <a:spLocks noGrp="1"/>
          </p:cNvSpPr>
          <p:nvPr>
            <p:ph idx="1"/>
          </p:nvPr>
        </p:nvSpPr>
        <p:spPr>
          <a:xfrm>
            <a:off x="1077362" y="1278924"/>
            <a:ext cx="9950103" cy="4661906"/>
          </a:xfrm>
        </p:spPr>
        <p:txBody>
          <a:bodyPr>
            <a:normAutofit lnSpcReduction="10000"/>
          </a:bodyPr>
          <a:lstStyle/>
          <a:p>
            <a:pPr marL="0" indent="0" algn="just">
              <a:buNone/>
            </a:pPr>
            <a:r>
              <a:rPr lang="it-IT" sz="2000" dirty="0"/>
              <a:t>Verifiche e comunicazioni del consiglio dell'ordine</a:t>
            </a:r>
          </a:p>
          <a:p>
            <a:pPr marL="0" indent="0" algn="just">
              <a:buNone/>
            </a:pPr>
            <a:r>
              <a:rPr lang="it-IT" sz="2000" dirty="0"/>
              <a:t> 1. Il COA, ricevuta l'istanza di cui all'art. 5, se accerta che non ricorrono i presupposti per l'ammissione al patrocinio a spese dello Stato comunica al richiedente il diniego di adozione della delibera di congruità, annotando sulla piattaforma l'esito negativo della domanda.</a:t>
            </a:r>
          </a:p>
          <a:p>
            <a:pPr marL="0" indent="0" algn="just">
              <a:buNone/>
            </a:pPr>
            <a:r>
              <a:rPr lang="it-IT" sz="2000" dirty="0"/>
              <a:t> 2. Se non procede ai sensi del comma 1, il COA, verificata la corrispondenza tra il valore dichiarato nell'accordo e il valore del compenso indicato nell'istanza di conferma, dimidiato ai sensi dell'art. 4 del presente decreto, appone il visto previsto dall'art. 15-septies, comma 3, del decreto legislativo n. 28 del 2010 e dall'art. 11-septies, comma 2, del decreto-legge n. 132 del 2014, convertito, con modificazioni, dalla legge n. 162 del 2014, adottando la delibera di congruità e annotandola sulla piattaforma. Con l'annotazione la delibera si intende comunicata al Ministero. </a:t>
            </a:r>
          </a:p>
          <a:p>
            <a:pPr marL="0" indent="0">
              <a:buNone/>
            </a:pPr>
            <a:endParaRPr lang="it-IT" dirty="0"/>
          </a:p>
        </p:txBody>
      </p:sp>
      <p:sp>
        <p:nvSpPr>
          <p:cNvPr id="4" name="Segnaposto data 3">
            <a:extLst>
              <a:ext uri="{FF2B5EF4-FFF2-40B4-BE49-F238E27FC236}">
                <a16:creationId xmlns:a16="http://schemas.microsoft.com/office/drawing/2014/main" id="{DE8A52C8-58F6-FD71-CEDE-B8759227B407}"/>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A3F470C9-3E8E-19C3-6C76-3998B519A45D}"/>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1C5C4567-EB44-9627-E202-00A4C61EC4FE}"/>
              </a:ext>
            </a:extLst>
          </p:cNvPr>
          <p:cNvSpPr>
            <a:spLocks noGrp="1"/>
          </p:cNvSpPr>
          <p:nvPr>
            <p:ph type="sldNum" sz="quarter" idx="12"/>
          </p:nvPr>
        </p:nvSpPr>
        <p:spPr/>
        <p:txBody>
          <a:bodyPr/>
          <a:lstStyle/>
          <a:p>
            <a:fld id="{5DEF7F31-0B8A-474A-B86C-91F381754329}" type="slidenum">
              <a:rPr lang="en-US" smtClean="0"/>
              <a:t>10</a:t>
            </a:fld>
            <a:endParaRPr lang="en-US"/>
          </a:p>
        </p:txBody>
      </p:sp>
    </p:spTree>
    <p:extLst>
      <p:ext uri="{BB962C8B-B14F-4D97-AF65-F5344CB8AC3E}">
        <p14:creationId xmlns:p14="http://schemas.microsoft.com/office/powerpoint/2010/main" val="63039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A4F00BA-8E93-AD28-5DAB-610EED4E216E}"/>
              </a:ext>
            </a:extLst>
          </p:cNvPr>
          <p:cNvSpPr>
            <a:spLocks noGrp="1"/>
          </p:cNvSpPr>
          <p:nvPr>
            <p:ph type="title"/>
          </p:nvPr>
        </p:nvSpPr>
        <p:spPr>
          <a:xfrm>
            <a:off x="1077362" y="720435"/>
            <a:ext cx="9950103" cy="521420"/>
          </a:xfrm>
        </p:spPr>
        <p:txBody>
          <a:bodyPr>
            <a:normAutofit fontScale="90000"/>
          </a:bodyPr>
          <a:lstStyle/>
          <a:p>
            <a:pPr algn="ctr"/>
            <a:r>
              <a:rPr lang="it-IT" dirty="0"/>
              <a:t>Art. 7 </a:t>
            </a:r>
            <a:br>
              <a:rPr lang="it-IT" dirty="0"/>
            </a:br>
            <a:endParaRPr lang="it-IT" dirty="0"/>
          </a:p>
        </p:txBody>
      </p:sp>
      <p:sp>
        <p:nvSpPr>
          <p:cNvPr id="3" name="Segnaposto contenuto 2">
            <a:extLst>
              <a:ext uri="{FF2B5EF4-FFF2-40B4-BE49-F238E27FC236}">
                <a16:creationId xmlns:a16="http://schemas.microsoft.com/office/drawing/2014/main" id="{AD86C1B3-DCA0-A3AC-E3E5-D8AAE6419ED8}"/>
              </a:ext>
            </a:extLst>
          </p:cNvPr>
          <p:cNvSpPr>
            <a:spLocks noGrp="1"/>
          </p:cNvSpPr>
          <p:nvPr>
            <p:ph idx="1"/>
          </p:nvPr>
        </p:nvSpPr>
        <p:spPr>
          <a:xfrm>
            <a:off x="1077362" y="1488989"/>
            <a:ext cx="9950103" cy="4451841"/>
          </a:xfrm>
        </p:spPr>
        <p:txBody>
          <a:bodyPr>
            <a:normAutofit fontScale="85000" lnSpcReduction="10000"/>
          </a:bodyPr>
          <a:lstStyle/>
          <a:p>
            <a:pPr marL="0" indent="0">
              <a:buNone/>
            </a:pPr>
            <a:r>
              <a:rPr lang="it-IT" dirty="0"/>
              <a:t>Verifiche e provvedimenti del Ministero</a:t>
            </a:r>
          </a:p>
          <a:p>
            <a:pPr marL="0" indent="0" algn="just">
              <a:buNone/>
            </a:pPr>
            <a:r>
              <a:rPr lang="it-IT" dirty="0"/>
              <a:t> 1. Ricevuta la comunicazione di cui all'art. 6, comma 2, il Ministero, se ritiene insussistenti i presupposti per l'ammissione al patrocinio a spese dello Stato, ne dà immediata comunicazione al COA per gli adempimenti di competenza.</a:t>
            </a:r>
          </a:p>
          <a:p>
            <a:pPr marL="0" indent="0" algn="just">
              <a:buNone/>
            </a:pPr>
            <a:r>
              <a:rPr lang="it-IT" dirty="0"/>
              <a:t> 2. Se non provvede ai sensi del comma 1, il Ministero, effettuate le verifiche ritenute necessarie, con provvedimento del capo Dipartimento per gli affari di giustizia, convalida la delibera di congruità e riconosce l'importo spettante all'avvocato, fruibile con le modalità di cui all'art. 8 o, alternativamente, di cui all'art. 13, dandone comunicazione all'avvocato e al COA.</a:t>
            </a:r>
          </a:p>
          <a:p>
            <a:pPr marL="0" indent="0" algn="just">
              <a:buNone/>
            </a:pPr>
            <a:r>
              <a:rPr lang="it-IT" dirty="0"/>
              <a:t> 3. Quando, effettuate le verifiche di cui al comma 2, il Ministero ritiene di non convalidare la delibera, ne dà comunicazione al COA e all'avvocato che, entro sessanta giorni da tale comunicazione, può presentare nuova istanza ai sensi dell'art. 15-septies, comma 3, del decreto legislativo n. 28 del 2010 o dall'art. 11-septies, comma 3, del decreto-legge n. 132 del 2014, convertito, con modificazioni, dalla legge n. 162 del 2014.</a:t>
            </a:r>
          </a:p>
          <a:p>
            <a:pPr marL="0" indent="0" algn="just">
              <a:buNone/>
            </a:pPr>
            <a:r>
              <a:rPr lang="it-IT" dirty="0"/>
              <a:t> 4. Le verifiche previste dal presente decreto sono effettuate dal Ministero mediante proprio personale o anche avvalendosi, in forza di apposita convenzione, del personale di Equitalia giustizia S.p.a..</a:t>
            </a:r>
          </a:p>
        </p:txBody>
      </p:sp>
      <p:sp>
        <p:nvSpPr>
          <p:cNvPr id="4" name="Segnaposto data 3">
            <a:extLst>
              <a:ext uri="{FF2B5EF4-FFF2-40B4-BE49-F238E27FC236}">
                <a16:creationId xmlns:a16="http://schemas.microsoft.com/office/drawing/2014/main" id="{8613C354-BE03-474D-CED9-69A541E98499}"/>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3E6EBDF6-ABFC-9613-EBB2-D91319DA4321}"/>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30FA2670-28CC-9E90-D529-6AC127353679}"/>
              </a:ext>
            </a:extLst>
          </p:cNvPr>
          <p:cNvSpPr>
            <a:spLocks noGrp="1"/>
          </p:cNvSpPr>
          <p:nvPr>
            <p:ph type="sldNum" sz="quarter" idx="12"/>
          </p:nvPr>
        </p:nvSpPr>
        <p:spPr/>
        <p:txBody>
          <a:bodyPr/>
          <a:lstStyle/>
          <a:p>
            <a:fld id="{5DEF7F31-0B8A-474A-B86C-91F381754329}" type="slidenum">
              <a:rPr lang="en-US" smtClean="0"/>
              <a:t>11</a:t>
            </a:fld>
            <a:endParaRPr lang="en-US"/>
          </a:p>
        </p:txBody>
      </p:sp>
    </p:spTree>
    <p:extLst>
      <p:ext uri="{BB962C8B-B14F-4D97-AF65-F5344CB8AC3E}">
        <p14:creationId xmlns:p14="http://schemas.microsoft.com/office/powerpoint/2010/main" val="4008037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EF7FF23-6828-537A-1B2B-3545CA295E56}"/>
              </a:ext>
            </a:extLst>
          </p:cNvPr>
          <p:cNvSpPr>
            <a:spLocks noGrp="1"/>
          </p:cNvSpPr>
          <p:nvPr>
            <p:ph type="title"/>
          </p:nvPr>
        </p:nvSpPr>
        <p:spPr>
          <a:xfrm>
            <a:off x="1077362" y="720434"/>
            <a:ext cx="9950103" cy="700593"/>
          </a:xfrm>
        </p:spPr>
        <p:txBody>
          <a:bodyPr/>
          <a:lstStyle/>
          <a:p>
            <a:pPr algn="ctr"/>
            <a:r>
              <a:rPr lang="it-IT" dirty="0"/>
              <a:t>Art. 8</a:t>
            </a:r>
          </a:p>
        </p:txBody>
      </p:sp>
      <p:sp>
        <p:nvSpPr>
          <p:cNvPr id="3" name="Segnaposto contenuto 2">
            <a:extLst>
              <a:ext uri="{FF2B5EF4-FFF2-40B4-BE49-F238E27FC236}">
                <a16:creationId xmlns:a16="http://schemas.microsoft.com/office/drawing/2014/main" id="{BF2E3462-50C0-5F69-44DA-3D7E96F95183}"/>
              </a:ext>
            </a:extLst>
          </p:cNvPr>
          <p:cNvSpPr>
            <a:spLocks noGrp="1"/>
          </p:cNvSpPr>
          <p:nvPr>
            <p:ph idx="1"/>
          </p:nvPr>
        </p:nvSpPr>
        <p:spPr>
          <a:xfrm>
            <a:off x="1077362" y="1773195"/>
            <a:ext cx="9950103" cy="4167635"/>
          </a:xfrm>
        </p:spPr>
        <p:txBody>
          <a:bodyPr/>
          <a:lstStyle/>
          <a:p>
            <a:pPr marL="0" indent="0" algn="just">
              <a:buNone/>
            </a:pPr>
            <a:r>
              <a:rPr lang="it-IT" sz="2400" dirty="0"/>
              <a:t>Termini per la presentazione della domanda di riconoscimento del  credito di imposta</a:t>
            </a:r>
          </a:p>
          <a:p>
            <a:pPr marL="0" indent="0" algn="just">
              <a:buNone/>
            </a:pPr>
            <a:r>
              <a:rPr lang="it-IT" sz="2400" dirty="0"/>
              <a:t> 1. Quando l'avvocato ha esercitato l'opzione ai sensi dell'art. 5, comma 1, lettera g), dopo l'adozione del provvedimento di convalida previsto dall'art. 7, comma 2, emette fattura elettronica e può presentare istanza di riconoscimento del credito di imposta, a pena di inammissibilità, tra il 1° gennaio e il 31 marzo, oppure tra il 1° settembre e il 15 ottobre di ciascun anno. </a:t>
            </a:r>
          </a:p>
          <a:p>
            <a:pPr marL="0" indent="0">
              <a:buNone/>
            </a:pPr>
            <a:endParaRPr lang="it-IT" dirty="0"/>
          </a:p>
        </p:txBody>
      </p:sp>
      <p:sp>
        <p:nvSpPr>
          <p:cNvPr id="4" name="Segnaposto data 3">
            <a:extLst>
              <a:ext uri="{FF2B5EF4-FFF2-40B4-BE49-F238E27FC236}">
                <a16:creationId xmlns:a16="http://schemas.microsoft.com/office/drawing/2014/main" id="{1F2AC42E-5A9B-C167-EA86-29FB88947A6B}"/>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D4D278D2-57CA-68D9-1914-0B8F493616FA}"/>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ADBAFA6C-AE1D-27C0-83CC-C585F1077E29}"/>
              </a:ext>
            </a:extLst>
          </p:cNvPr>
          <p:cNvSpPr>
            <a:spLocks noGrp="1"/>
          </p:cNvSpPr>
          <p:nvPr>
            <p:ph type="sldNum" sz="quarter" idx="12"/>
          </p:nvPr>
        </p:nvSpPr>
        <p:spPr/>
        <p:txBody>
          <a:bodyPr/>
          <a:lstStyle/>
          <a:p>
            <a:fld id="{5DEF7F31-0B8A-474A-B86C-91F381754329}" type="slidenum">
              <a:rPr lang="en-US" smtClean="0"/>
              <a:t>12</a:t>
            </a:fld>
            <a:endParaRPr lang="en-US"/>
          </a:p>
        </p:txBody>
      </p:sp>
    </p:spTree>
    <p:extLst>
      <p:ext uri="{BB962C8B-B14F-4D97-AF65-F5344CB8AC3E}">
        <p14:creationId xmlns:p14="http://schemas.microsoft.com/office/powerpoint/2010/main" val="2019307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AA2412C-D517-9249-3184-9B7F83F05A9D}"/>
              </a:ext>
            </a:extLst>
          </p:cNvPr>
          <p:cNvSpPr>
            <a:spLocks noGrp="1"/>
          </p:cNvSpPr>
          <p:nvPr>
            <p:ph type="title"/>
          </p:nvPr>
        </p:nvSpPr>
        <p:spPr>
          <a:xfrm>
            <a:off x="1077362" y="720434"/>
            <a:ext cx="9950103" cy="663523"/>
          </a:xfrm>
        </p:spPr>
        <p:txBody>
          <a:bodyPr/>
          <a:lstStyle/>
          <a:p>
            <a:pPr algn="ctr"/>
            <a:r>
              <a:rPr lang="it-IT" dirty="0"/>
              <a:t>Art. 9</a:t>
            </a:r>
          </a:p>
        </p:txBody>
      </p:sp>
      <p:sp>
        <p:nvSpPr>
          <p:cNvPr id="3" name="Segnaposto contenuto 2">
            <a:extLst>
              <a:ext uri="{FF2B5EF4-FFF2-40B4-BE49-F238E27FC236}">
                <a16:creationId xmlns:a16="http://schemas.microsoft.com/office/drawing/2014/main" id="{D4EEFAD1-C7E5-1841-9467-2DA17CFDE37A}"/>
              </a:ext>
            </a:extLst>
          </p:cNvPr>
          <p:cNvSpPr>
            <a:spLocks noGrp="1"/>
          </p:cNvSpPr>
          <p:nvPr>
            <p:ph idx="1"/>
          </p:nvPr>
        </p:nvSpPr>
        <p:spPr>
          <a:xfrm>
            <a:off x="1077362" y="1501346"/>
            <a:ext cx="9950103" cy="4439484"/>
          </a:xfrm>
        </p:spPr>
        <p:txBody>
          <a:bodyPr>
            <a:normAutofit fontScale="92500" lnSpcReduction="20000"/>
          </a:bodyPr>
          <a:lstStyle/>
          <a:p>
            <a:pPr marL="0" indent="0" algn="just">
              <a:buNone/>
            </a:pPr>
            <a:r>
              <a:rPr lang="it-IT" sz="2600" dirty="0"/>
              <a:t>Procedure di utilizzo del credito di imposta</a:t>
            </a:r>
          </a:p>
          <a:p>
            <a:pPr marL="0" indent="0" algn="just">
              <a:buNone/>
            </a:pPr>
            <a:r>
              <a:rPr lang="it-IT" sz="2600" dirty="0"/>
              <a:t> 1. Il credito di imposta, riconosciuto ai sensi del presente decreto, è utilizzabile in compensazione, ai sensi dell'art. 17 del decreto legislativo 9 luglio 1997, n. 241, a decorrere dalla data di 07/08/23, dal ricevimento della comunicazione di cui all'art. 10, comma 1, tramite modello F24, presentato, a pena di rifiuto dell'operazione di versamento, esclusivamente tramite i servizi telematici messi a disposizione dalla Agenzia delle entrate. L'ammontare del credito di imposta utilizzato in compensazione non può eccedere l'importo comunicato dal Ministero, a pena di scarto dell'operazione di versamento. </a:t>
            </a:r>
          </a:p>
          <a:p>
            <a:pPr marL="0" indent="0">
              <a:buNone/>
            </a:pPr>
            <a:endParaRPr lang="it-IT" dirty="0"/>
          </a:p>
        </p:txBody>
      </p:sp>
      <p:sp>
        <p:nvSpPr>
          <p:cNvPr id="4" name="Segnaposto data 3">
            <a:extLst>
              <a:ext uri="{FF2B5EF4-FFF2-40B4-BE49-F238E27FC236}">
                <a16:creationId xmlns:a16="http://schemas.microsoft.com/office/drawing/2014/main" id="{9405E89B-3F71-2BEC-257C-FAE6BD9BFB1D}"/>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75794973-E000-E2EA-8B47-3BB3AD96BDA4}"/>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1553064B-DE0B-9EA5-9F63-C71B4F7CA326}"/>
              </a:ext>
            </a:extLst>
          </p:cNvPr>
          <p:cNvSpPr>
            <a:spLocks noGrp="1"/>
          </p:cNvSpPr>
          <p:nvPr>
            <p:ph type="sldNum" sz="quarter" idx="12"/>
          </p:nvPr>
        </p:nvSpPr>
        <p:spPr/>
        <p:txBody>
          <a:bodyPr/>
          <a:lstStyle/>
          <a:p>
            <a:fld id="{5DEF7F31-0B8A-474A-B86C-91F381754329}" type="slidenum">
              <a:rPr lang="en-US" smtClean="0"/>
              <a:t>13</a:t>
            </a:fld>
            <a:endParaRPr lang="en-US"/>
          </a:p>
        </p:txBody>
      </p:sp>
    </p:spTree>
    <p:extLst>
      <p:ext uri="{BB962C8B-B14F-4D97-AF65-F5344CB8AC3E}">
        <p14:creationId xmlns:p14="http://schemas.microsoft.com/office/powerpoint/2010/main" val="1599766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3643ED7-33F8-C44F-90F3-A7B6B2E362AB}"/>
              </a:ext>
            </a:extLst>
          </p:cNvPr>
          <p:cNvSpPr>
            <a:spLocks noGrp="1"/>
          </p:cNvSpPr>
          <p:nvPr>
            <p:ph type="title"/>
          </p:nvPr>
        </p:nvSpPr>
        <p:spPr>
          <a:xfrm>
            <a:off x="1077362" y="720434"/>
            <a:ext cx="9950103" cy="614096"/>
          </a:xfrm>
        </p:spPr>
        <p:txBody>
          <a:bodyPr/>
          <a:lstStyle/>
          <a:p>
            <a:pPr algn="ctr"/>
            <a:r>
              <a:rPr lang="it-IT" dirty="0"/>
              <a:t>Art. 10</a:t>
            </a:r>
          </a:p>
        </p:txBody>
      </p:sp>
      <p:sp>
        <p:nvSpPr>
          <p:cNvPr id="3" name="Segnaposto contenuto 2">
            <a:extLst>
              <a:ext uri="{FF2B5EF4-FFF2-40B4-BE49-F238E27FC236}">
                <a16:creationId xmlns:a16="http://schemas.microsoft.com/office/drawing/2014/main" id="{DB83776B-D51C-44C6-37D5-1FE0DFD321C5}"/>
              </a:ext>
            </a:extLst>
          </p:cNvPr>
          <p:cNvSpPr>
            <a:spLocks noGrp="1"/>
          </p:cNvSpPr>
          <p:nvPr>
            <p:ph idx="1"/>
          </p:nvPr>
        </p:nvSpPr>
        <p:spPr>
          <a:xfrm>
            <a:off x="1077362" y="1501346"/>
            <a:ext cx="9950103" cy="4775886"/>
          </a:xfrm>
        </p:spPr>
        <p:txBody>
          <a:bodyPr>
            <a:normAutofit fontScale="92500" lnSpcReduction="10000"/>
          </a:bodyPr>
          <a:lstStyle/>
          <a:p>
            <a:pPr marL="0" indent="0">
              <a:buNone/>
            </a:pPr>
            <a:r>
              <a:rPr lang="it-IT" dirty="0"/>
              <a:t>Comunicazioni e procedure di recupero</a:t>
            </a:r>
          </a:p>
          <a:p>
            <a:pPr marL="0" indent="0" algn="just">
              <a:buNone/>
            </a:pPr>
            <a:r>
              <a:rPr lang="it-IT" dirty="0"/>
              <a:t> 1. Il Ministero, entro il 30 aprile per le istanze presentate entro il 31 marzo, o entro il 30 ottobre per le istanze presentate entro il 15 ottobre, comunica al beneficiario l'importo del credito d'imposta spettante in relazione a ciascuna delle richieste, osservando le priorità delle comunicazioni previste dall'art. 11, comma 1.</a:t>
            </a:r>
          </a:p>
          <a:p>
            <a:pPr marL="0" indent="0" algn="just">
              <a:buNone/>
            </a:pPr>
            <a:r>
              <a:rPr lang="it-IT" dirty="0"/>
              <a:t> 2. Quando, a seguito dei controlli effettuati dal Ministero, è accertata l'indebita fruizione, anche parziale, dei crediti d'imposta oggetto del presente decreto, in conseguenza del mancato rispetto delle condizioni richieste o della non eleggibilità delle spese sulla base delle quali è stato determinato il beneficio, il Ministero, ai sensi dell'art. 1, comma 6, del decreto-legge 25 marzo 2010, n. 40, convertito, con modificazioni, dalla legge 22 maggio 2010, n. 73, provvede al recupero del relativo importo, maggiorato di interessi e sanzioni secondo legge.</a:t>
            </a:r>
          </a:p>
          <a:p>
            <a:pPr marL="0" indent="0" algn="just">
              <a:buNone/>
            </a:pPr>
            <a:r>
              <a:rPr lang="it-IT" dirty="0"/>
              <a:t> 3. In caso di indebita fruizione, totale o parziale, dei crediti d'imposta, accertata nell'ambito dell'ordinaria attività di controllo, l'Agenzia delle entrate ne dà comunicazione al Ministero che provvede al recupero del relativo importo, maggiorato di interessi e sanzioni ai sensi del comma 2. </a:t>
            </a:r>
          </a:p>
          <a:p>
            <a:pPr marL="0" indent="0">
              <a:buNone/>
            </a:pPr>
            <a:endParaRPr lang="it-IT" dirty="0"/>
          </a:p>
        </p:txBody>
      </p:sp>
      <p:sp>
        <p:nvSpPr>
          <p:cNvPr id="4" name="Segnaposto data 3">
            <a:extLst>
              <a:ext uri="{FF2B5EF4-FFF2-40B4-BE49-F238E27FC236}">
                <a16:creationId xmlns:a16="http://schemas.microsoft.com/office/drawing/2014/main" id="{0AC1D45C-91B3-2A3A-6060-BCCBEAB3CE5D}"/>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6B2D1E82-2B38-565D-CEDD-EF6DBC2931A2}"/>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F7804EFB-3C16-424D-C663-C9CA8E68F7C9}"/>
              </a:ext>
            </a:extLst>
          </p:cNvPr>
          <p:cNvSpPr>
            <a:spLocks noGrp="1"/>
          </p:cNvSpPr>
          <p:nvPr>
            <p:ph type="sldNum" sz="quarter" idx="12"/>
          </p:nvPr>
        </p:nvSpPr>
        <p:spPr/>
        <p:txBody>
          <a:bodyPr/>
          <a:lstStyle/>
          <a:p>
            <a:fld id="{5DEF7F31-0B8A-474A-B86C-91F381754329}" type="slidenum">
              <a:rPr lang="en-US" smtClean="0"/>
              <a:t>14</a:t>
            </a:fld>
            <a:endParaRPr lang="en-US"/>
          </a:p>
        </p:txBody>
      </p:sp>
    </p:spTree>
    <p:extLst>
      <p:ext uri="{BB962C8B-B14F-4D97-AF65-F5344CB8AC3E}">
        <p14:creationId xmlns:p14="http://schemas.microsoft.com/office/powerpoint/2010/main" val="2385160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C88341C-A494-BBE5-9288-425A54367FA4}"/>
              </a:ext>
            </a:extLst>
          </p:cNvPr>
          <p:cNvSpPr>
            <a:spLocks noGrp="1"/>
          </p:cNvSpPr>
          <p:nvPr>
            <p:ph type="title"/>
          </p:nvPr>
        </p:nvSpPr>
        <p:spPr>
          <a:xfrm>
            <a:off x="1077362" y="720434"/>
            <a:ext cx="9950103" cy="595561"/>
          </a:xfrm>
        </p:spPr>
        <p:txBody>
          <a:bodyPr/>
          <a:lstStyle/>
          <a:p>
            <a:pPr algn="ctr"/>
            <a:r>
              <a:rPr lang="it-IT" dirty="0"/>
              <a:t>Art. 11</a:t>
            </a:r>
          </a:p>
        </p:txBody>
      </p:sp>
      <p:sp>
        <p:nvSpPr>
          <p:cNvPr id="3" name="Segnaposto contenuto 2">
            <a:extLst>
              <a:ext uri="{FF2B5EF4-FFF2-40B4-BE49-F238E27FC236}">
                <a16:creationId xmlns:a16="http://schemas.microsoft.com/office/drawing/2014/main" id="{45AE8F17-9BA4-90BC-174F-DFB46E740290}"/>
              </a:ext>
            </a:extLst>
          </p:cNvPr>
          <p:cNvSpPr>
            <a:spLocks noGrp="1"/>
          </p:cNvSpPr>
          <p:nvPr>
            <p:ph idx="1"/>
          </p:nvPr>
        </p:nvSpPr>
        <p:spPr>
          <a:xfrm>
            <a:off x="1077362" y="1550773"/>
            <a:ext cx="9950103" cy="4390057"/>
          </a:xfrm>
        </p:spPr>
        <p:txBody>
          <a:bodyPr/>
          <a:lstStyle/>
          <a:p>
            <a:pPr marL="0" indent="0">
              <a:buNone/>
            </a:pPr>
            <a:r>
              <a:rPr lang="it-IT" dirty="0"/>
              <a:t>Trasmissione dati </a:t>
            </a:r>
          </a:p>
          <a:p>
            <a:pPr marL="0" indent="0">
              <a:buNone/>
            </a:pPr>
            <a:r>
              <a:rPr lang="it-IT" sz="2000" dirty="0"/>
              <a:t>1. Ai fini di cui all'art. 9, il Ministero, almeno cinque giorni prima di comunicare al beneficiario l'accoglimento della domanda, trasmette all'Agenzia delle entrate, tramite SID o altro sistema avente il medesimo livello di misure di sicurezza tecniche e organizzative adeguato al rischio presentato dal trattamento, l'elenco dei soggetti ammessi a fruire dell'agevolazione e l'importo del credito d'imposta concesso. Con le stesse modalità sono comunicate le eventuali variazioni o revoche, anche parziali, dei crediti d'imposta concessi. </a:t>
            </a:r>
          </a:p>
          <a:p>
            <a:pPr marL="0" indent="0">
              <a:buNone/>
            </a:pPr>
            <a:r>
              <a:rPr lang="it-IT" sz="2000" dirty="0"/>
              <a:t>2. L'Agenzia delle entrate trasmette al Ministero, tramite il sistema di cui al comma 1, l'elenco dei soggetti che hanno utilizzato il credito di imposta in compensazione con i relativi importi. </a:t>
            </a:r>
          </a:p>
        </p:txBody>
      </p:sp>
      <p:sp>
        <p:nvSpPr>
          <p:cNvPr id="4" name="Segnaposto data 3">
            <a:extLst>
              <a:ext uri="{FF2B5EF4-FFF2-40B4-BE49-F238E27FC236}">
                <a16:creationId xmlns:a16="http://schemas.microsoft.com/office/drawing/2014/main" id="{8567CDD6-AA4E-6B01-3413-C3F04F89E1F5}"/>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DA71334E-38A5-407D-5E9A-CAD976CF9F22}"/>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21D2381A-9052-4486-AB51-9D13ADE89E4F}"/>
              </a:ext>
            </a:extLst>
          </p:cNvPr>
          <p:cNvSpPr>
            <a:spLocks noGrp="1"/>
          </p:cNvSpPr>
          <p:nvPr>
            <p:ph type="sldNum" sz="quarter" idx="12"/>
          </p:nvPr>
        </p:nvSpPr>
        <p:spPr/>
        <p:txBody>
          <a:bodyPr/>
          <a:lstStyle/>
          <a:p>
            <a:fld id="{5DEF7F31-0B8A-474A-B86C-91F381754329}" type="slidenum">
              <a:rPr lang="en-US" smtClean="0"/>
              <a:t>15</a:t>
            </a:fld>
            <a:endParaRPr lang="en-US"/>
          </a:p>
        </p:txBody>
      </p:sp>
    </p:spTree>
    <p:extLst>
      <p:ext uri="{BB962C8B-B14F-4D97-AF65-F5344CB8AC3E}">
        <p14:creationId xmlns:p14="http://schemas.microsoft.com/office/powerpoint/2010/main" val="3669297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3F8E8AD-25A5-8E5F-DA5F-0CBEC23EBC51}"/>
              </a:ext>
            </a:extLst>
          </p:cNvPr>
          <p:cNvSpPr>
            <a:spLocks noGrp="1"/>
          </p:cNvSpPr>
          <p:nvPr>
            <p:ph type="title"/>
          </p:nvPr>
        </p:nvSpPr>
        <p:spPr>
          <a:xfrm>
            <a:off x="1077362" y="720434"/>
            <a:ext cx="9950103" cy="657344"/>
          </a:xfrm>
        </p:spPr>
        <p:txBody>
          <a:bodyPr/>
          <a:lstStyle/>
          <a:p>
            <a:pPr algn="ctr"/>
            <a:r>
              <a:rPr lang="it-IT" dirty="0"/>
              <a:t>Art. 12</a:t>
            </a:r>
          </a:p>
        </p:txBody>
      </p:sp>
      <p:sp>
        <p:nvSpPr>
          <p:cNvPr id="3" name="Segnaposto contenuto 2">
            <a:extLst>
              <a:ext uri="{FF2B5EF4-FFF2-40B4-BE49-F238E27FC236}">
                <a16:creationId xmlns:a16="http://schemas.microsoft.com/office/drawing/2014/main" id="{B762C12F-569C-8C56-867B-0663E6383D3B}"/>
              </a:ext>
            </a:extLst>
          </p:cNvPr>
          <p:cNvSpPr>
            <a:spLocks noGrp="1"/>
          </p:cNvSpPr>
          <p:nvPr>
            <p:ph idx="1"/>
          </p:nvPr>
        </p:nvSpPr>
        <p:spPr>
          <a:xfrm>
            <a:off x="1077362" y="1507524"/>
            <a:ext cx="9950103" cy="4433306"/>
          </a:xfrm>
        </p:spPr>
        <p:txBody>
          <a:bodyPr>
            <a:normAutofit fontScale="92500" lnSpcReduction="10000"/>
          </a:bodyPr>
          <a:lstStyle/>
          <a:p>
            <a:pPr marL="0" indent="0" algn="just">
              <a:buNone/>
            </a:pPr>
            <a:r>
              <a:rPr lang="it-IT" sz="2800" dirty="0"/>
              <a:t>Cause di revoca</a:t>
            </a:r>
          </a:p>
          <a:p>
            <a:pPr marL="0" indent="0" algn="just">
              <a:buNone/>
            </a:pPr>
            <a:r>
              <a:rPr lang="it-IT" sz="2800" dirty="0"/>
              <a:t> 1. Il credito di imposta è revocato se è accertata l'insussistenza dei requisiti soggettivi o oggettivi di cui al presente decreto o se la domanda di attribuzione del credito contiene dati o dichiarazioni non veritiere. Sono fatte salve le eventuali conseguenze previste dalla legge civile, penale ed amministrativa. In caso di revoca del credito di imposta si provvede al recupero del beneficio indebitamente fruito ai sensi dell'art. 10. </a:t>
            </a:r>
          </a:p>
          <a:p>
            <a:pPr marL="0" indent="0">
              <a:buNone/>
            </a:pPr>
            <a:endParaRPr lang="it-IT" dirty="0"/>
          </a:p>
        </p:txBody>
      </p:sp>
      <p:sp>
        <p:nvSpPr>
          <p:cNvPr id="4" name="Segnaposto data 3">
            <a:extLst>
              <a:ext uri="{FF2B5EF4-FFF2-40B4-BE49-F238E27FC236}">
                <a16:creationId xmlns:a16="http://schemas.microsoft.com/office/drawing/2014/main" id="{14B7C3FA-CA54-E1CE-EFFE-87B5BE8B62FA}"/>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8F8F054F-CE80-CC6A-0C5F-4519C1DA8C1B}"/>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5630DF39-4501-65C7-18CA-38485D6C5FC6}"/>
              </a:ext>
            </a:extLst>
          </p:cNvPr>
          <p:cNvSpPr>
            <a:spLocks noGrp="1"/>
          </p:cNvSpPr>
          <p:nvPr>
            <p:ph type="sldNum" sz="quarter" idx="12"/>
          </p:nvPr>
        </p:nvSpPr>
        <p:spPr/>
        <p:txBody>
          <a:bodyPr/>
          <a:lstStyle/>
          <a:p>
            <a:fld id="{5DEF7F31-0B8A-474A-B86C-91F381754329}" type="slidenum">
              <a:rPr lang="en-US" smtClean="0"/>
              <a:t>16</a:t>
            </a:fld>
            <a:endParaRPr lang="en-US"/>
          </a:p>
        </p:txBody>
      </p:sp>
    </p:spTree>
    <p:extLst>
      <p:ext uri="{BB962C8B-B14F-4D97-AF65-F5344CB8AC3E}">
        <p14:creationId xmlns:p14="http://schemas.microsoft.com/office/powerpoint/2010/main" val="884568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BB4F548-E21D-4C06-2FDA-D766B43A797E}"/>
              </a:ext>
            </a:extLst>
          </p:cNvPr>
          <p:cNvSpPr>
            <a:spLocks noGrp="1"/>
          </p:cNvSpPr>
          <p:nvPr>
            <p:ph type="title"/>
          </p:nvPr>
        </p:nvSpPr>
        <p:spPr>
          <a:xfrm>
            <a:off x="1077362" y="720434"/>
            <a:ext cx="9950103" cy="632631"/>
          </a:xfrm>
        </p:spPr>
        <p:txBody>
          <a:bodyPr/>
          <a:lstStyle/>
          <a:p>
            <a:pPr algn="ctr"/>
            <a:r>
              <a:rPr lang="it-IT" dirty="0"/>
              <a:t>Art. 13</a:t>
            </a:r>
          </a:p>
        </p:txBody>
      </p:sp>
      <p:sp>
        <p:nvSpPr>
          <p:cNvPr id="3" name="Segnaposto contenuto 2">
            <a:extLst>
              <a:ext uri="{FF2B5EF4-FFF2-40B4-BE49-F238E27FC236}">
                <a16:creationId xmlns:a16="http://schemas.microsoft.com/office/drawing/2014/main" id="{55699E13-5C5A-E98D-C9C0-70D17973CB1C}"/>
              </a:ext>
            </a:extLst>
          </p:cNvPr>
          <p:cNvSpPr>
            <a:spLocks noGrp="1"/>
          </p:cNvSpPr>
          <p:nvPr>
            <p:ph idx="1"/>
          </p:nvPr>
        </p:nvSpPr>
        <p:spPr>
          <a:xfrm>
            <a:off x="1077362" y="1624914"/>
            <a:ext cx="9950103" cy="4315916"/>
          </a:xfrm>
        </p:spPr>
        <p:txBody>
          <a:bodyPr>
            <a:normAutofit/>
          </a:bodyPr>
          <a:lstStyle/>
          <a:p>
            <a:pPr marL="0" indent="0" algn="just">
              <a:buNone/>
            </a:pPr>
            <a:r>
              <a:rPr lang="it-IT" sz="2400" dirty="0"/>
              <a:t>Richiesta di pagamento dell'importo riconosciuto all'avvocato</a:t>
            </a:r>
          </a:p>
          <a:p>
            <a:pPr marL="0" indent="0" algn="just">
              <a:buNone/>
            </a:pPr>
            <a:r>
              <a:rPr lang="it-IT" sz="2400" dirty="0"/>
              <a:t> 1. Quando l'avvocato ha esercitato l'opzione prevista dall'art. 5, comma 1, lettera g), per il pagamento dell'importo riconosciuto ai sensi dell'art. 7, comma 2, emette fattura elettronica intestata al Ministero, completa di apposito codice IPA.</a:t>
            </a:r>
          </a:p>
          <a:p>
            <a:pPr marL="0" indent="0" algn="just">
              <a:buNone/>
            </a:pPr>
            <a:r>
              <a:rPr lang="it-IT" sz="2400" dirty="0"/>
              <a:t> 2. Il Ministero, ricevuta la fattura di cui al comma 1, emette il mandato di pagamento nell'ambito delle risorse iscritte nell'apposito capitolo di bilancio del Ministero della giustizia - Dipartimento per gli affari di giustizia.</a:t>
            </a:r>
          </a:p>
        </p:txBody>
      </p:sp>
      <p:sp>
        <p:nvSpPr>
          <p:cNvPr id="4" name="Segnaposto data 3">
            <a:extLst>
              <a:ext uri="{FF2B5EF4-FFF2-40B4-BE49-F238E27FC236}">
                <a16:creationId xmlns:a16="http://schemas.microsoft.com/office/drawing/2014/main" id="{172743A9-94E2-045E-A24C-74E8EFC45938}"/>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771779F1-B721-F1BF-9259-DE21A659221F}"/>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49C451D4-7AEA-5BA5-7528-5EF46125C99F}"/>
              </a:ext>
            </a:extLst>
          </p:cNvPr>
          <p:cNvSpPr>
            <a:spLocks noGrp="1"/>
          </p:cNvSpPr>
          <p:nvPr>
            <p:ph type="sldNum" sz="quarter" idx="12"/>
          </p:nvPr>
        </p:nvSpPr>
        <p:spPr/>
        <p:txBody>
          <a:bodyPr/>
          <a:lstStyle/>
          <a:p>
            <a:fld id="{5DEF7F31-0B8A-474A-B86C-91F381754329}" type="slidenum">
              <a:rPr lang="en-US" smtClean="0"/>
              <a:t>17</a:t>
            </a:fld>
            <a:endParaRPr lang="en-US"/>
          </a:p>
        </p:txBody>
      </p:sp>
    </p:spTree>
    <p:extLst>
      <p:ext uri="{BB962C8B-B14F-4D97-AF65-F5344CB8AC3E}">
        <p14:creationId xmlns:p14="http://schemas.microsoft.com/office/powerpoint/2010/main" val="2718872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6B24F9-1818-DD1B-2E3B-43809C186D21}"/>
              </a:ext>
            </a:extLst>
          </p:cNvPr>
          <p:cNvSpPr>
            <a:spLocks noGrp="1"/>
          </p:cNvSpPr>
          <p:nvPr>
            <p:ph type="title"/>
          </p:nvPr>
        </p:nvSpPr>
        <p:spPr>
          <a:xfrm>
            <a:off x="1077362" y="720434"/>
            <a:ext cx="9950103" cy="644988"/>
          </a:xfrm>
        </p:spPr>
        <p:txBody>
          <a:bodyPr/>
          <a:lstStyle/>
          <a:p>
            <a:pPr algn="ctr"/>
            <a:r>
              <a:rPr lang="it-IT" dirty="0"/>
              <a:t>Art. 14</a:t>
            </a:r>
          </a:p>
        </p:txBody>
      </p:sp>
      <p:sp>
        <p:nvSpPr>
          <p:cNvPr id="3" name="Segnaposto contenuto 2">
            <a:extLst>
              <a:ext uri="{FF2B5EF4-FFF2-40B4-BE49-F238E27FC236}">
                <a16:creationId xmlns:a16="http://schemas.microsoft.com/office/drawing/2014/main" id="{E203AB77-E85C-1B22-CC53-B88B2950E6F0}"/>
              </a:ext>
            </a:extLst>
          </p:cNvPr>
          <p:cNvSpPr>
            <a:spLocks noGrp="1"/>
          </p:cNvSpPr>
          <p:nvPr>
            <p:ph idx="1"/>
          </p:nvPr>
        </p:nvSpPr>
        <p:spPr>
          <a:xfrm>
            <a:off x="1077362" y="1600199"/>
            <a:ext cx="10649200" cy="4646141"/>
          </a:xfrm>
        </p:spPr>
        <p:txBody>
          <a:bodyPr>
            <a:normAutofit fontScale="32500" lnSpcReduction="20000"/>
          </a:bodyPr>
          <a:lstStyle/>
          <a:p>
            <a:pPr marL="0" indent="0" algn="just">
              <a:buNone/>
            </a:pPr>
            <a:r>
              <a:rPr lang="it-IT" sz="4900" dirty="0"/>
              <a:t>Capo II</a:t>
            </a:r>
          </a:p>
          <a:p>
            <a:pPr marL="0" indent="0" algn="just">
              <a:buNone/>
            </a:pPr>
            <a:r>
              <a:rPr lang="it-IT" sz="4900" dirty="0"/>
              <a:t>Monitoraggio statistico e trattamento dati</a:t>
            </a:r>
          </a:p>
          <a:p>
            <a:pPr marL="0" indent="0" algn="just">
              <a:buNone/>
            </a:pPr>
            <a:r>
              <a:rPr lang="it-IT" sz="4900" dirty="0"/>
              <a:t>Art. 14</a:t>
            </a:r>
          </a:p>
          <a:p>
            <a:pPr marL="0" indent="0" algn="just">
              <a:buNone/>
            </a:pPr>
            <a:r>
              <a:rPr lang="it-IT" sz="4900" dirty="0"/>
              <a:t>Monitoraggio dei casi di tentativo obbligatorio di mediazione ai sensi dell'art. 5, comma 1, del decreto legislativo 4 marzo 2010,  n. 28</a:t>
            </a:r>
          </a:p>
          <a:p>
            <a:pPr marL="0" indent="0" algn="just">
              <a:buNone/>
            </a:pPr>
            <a:r>
              <a:rPr lang="it-IT" sz="4900" dirty="0"/>
              <a:t> 1. Il Ministero provvede al monitoraggio previsto dall'art. 42 del decreto legislativo n. 149 del 2022, con cadenza annuale, a partire dalla data di entrata in vigore del presente decreto e fino alla decorrenza del termine previsto dalla predetta norma dei dati relativi ai casi di cui all'art. 5, comma 1, del decreto legislativo n. 28 del 2010, distinti per materia. Decorso il termine di cui all'art. 42 del predetto decreto legislativo n. 149 del 2022, il Ministero prosegue l'attività di monitoraggio prevista dal presente articolo solo in caso di permanenza della procedura di mediazione come condizione di procedibilità nei casi previsti dall' art. 5, comma 1, del decreto legislativo n. 28 del 2010.</a:t>
            </a:r>
          </a:p>
          <a:p>
            <a:pPr marL="0" indent="0" algn="just">
              <a:buNone/>
            </a:pPr>
            <a:r>
              <a:rPr lang="it-IT" sz="4900" dirty="0"/>
              <a:t> 2. Per le finalità previste dal comma 1, DGSTAT elabora a fini statistici i dati di cui al comma 1, estratti dalla piattaforma di cui all'art. 3, comma 1, in conformità all'art. 15, entro il 31 gennaio di ogni anno.</a:t>
            </a:r>
          </a:p>
          <a:p>
            <a:pPr marL="0" indent="0" algn="just">
              <a:buNone/>
            </a:pPr>
            <a:r>
              <a:rPr lang="it-IT" sz="4900" dirty="0"/>
              <a:t> 3. Dopo l'elaborazione statistica, il Ministero provvede alla cancellazione dei dati estratti ai sensi del comma 2. </a:t>
            </a:r>
          </a:p>
          <a:p>
            <a:pPr marL="0" indent="0">
              <a:buNone/>
            </a:pPr>
            <a:endParaRPr lang="it-IT" dirty="0"/>
          </a:p>
        </p:txBody>
      </p:sp>
      <p:sp>
        <p:nvSpPr>
          <p:cNvPr id="4" name="Segnaposto data 3">
            <a:extLst>
              <a:ext uri="{FF2B5EF4-FFF2-40B4-BE49-F238E27FC236}">
                <a16:creationId xmlns:a16="http://schemas.microsoft.com/office/drawing/2014/main" id="{B363254B-DCD3-5B9A-3D18-D8AA70D91245}"/>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E447E7E2-6740-E7BE-B3C5-820B96AC95F6}"/>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9A39B743-3C61-99F8-78FD-27DD3D70FB11}"/>
              </a:ext>
            </a:extLst>
          </p:cNvPr>
          <p:cNvSpPr>
            <a:spLocks noGrp="1"/>
          </p:cNvSpPr>
          <p:nvPr>
            <p:ph type="sldNum" sz="quarter" idx="12"/>
          </p:nvPr>
        </p:nvSpPr>
        <p:spPr/>
        <p:txBody>
          <a:bodyPr/>
          <a:lstStyle/>
          <a:p>
            <a:fld id="{5DEF7F31-0B8A-474A-B86C-91F381754329}" type="slidenum">
              <a:rPr lang="en-US" smtClean="0"/>
              <a:t>18</a:t>
            </a:fld>
            <a:endParaRPr lang="en-US"/>
          </a:p>
        </p:txBody>
      </p:sp>
    </p:spTree>
    <p:extLst>
      <p:ext uri="{BB962C8B-B14F-4D97-AF65-F5344CB8AC3E}">
        <p14:creationId xmlns:p14="http://schemas.microsoft.com/office/powerpoint/2010/main" val="3664947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2A547CF-2370-8AEA-E5AB-3FE6DE6DC687}"/>
              </a:ext>
            </a:extLst>
          </p:cNvPr>
          <p:cNvSpPr>
            <a:spLocks noGrp="1"/>
          </p:cNvSpPr>
          <p:nvPr>
            <p:ph type="title"/>
          </p:nvPr>
        </p:nvSpPr>
        <p:spPr>
          <a:xfrm>
            <a:off x="1077362" y="720434"/>
            <a:ext cx="9950103" cy="570847"/>
          </a:xfrm>
        </p:spPr>
        <p:txBody>
          <a:bodyPr>
            <a:normAutofit fontScale="90000"/>
          </a:bodyPr>
          <a:lstStyle/>
          <a:p>
            <a:pPr algn="ctr"/>
            <a:r>
              <a:rPr lang="it-IT" dirty="0"/>
              <a:t>Art. 15</a:t>
            </a:r>
          </a:p>
        </p:txBody>
      </p:sp>
      <p:sp>
        <p:nvSpPr>
          <p:cNvPr id="3" name="Segnaposto contenuto 2">
            <a:extLst>
              <a:ext uri="{FF2B5EF4-FFF2-40B4-BE49-F238E27FC236}">
                <a16:creationId xmlns:a16="http://schemas.microsoft.com/office/drawing/2014/main" id="{F609E0D7-6065-3B20-B213-B2B0A8D9C82C}"/>
              </a:ext>
            </a:extLst>
          </p:cNvPr>
          <p:cNvSpPr>
            <a:spLocks noGrp="1"/>
          </p:cNvSpPr>
          <p:nvPr>
            <p:ph idx="1"/>
          </p:nvPr>
        </p:nvSpPr>
        <p:spPr>
          <a:xfrm>
            <a:off x="1077362" y="1445741"/>
            <a:ext cx="9950103" cy="4495089"/>
          </a:xfrm>
        </p:spPr>
        <p:txBody>
          <a:bodyPr/>
          <a:lstStyle/>
          <a:p>
            <a:endParaRPr lang="it-IT" dirty="0"/>
          </a:p>
        </p:txBody>
      </p:sp>
      <p:sp>
        <p:nvSpPr>
          <p:cNvPr id="4" name="Segnaposto data 3">
            <a:extLst>
              <a:ext uri="{FF2B5EF4-FFF2-40B4-BE49-F238E27FC236}">
                <a16:creationId xmlns:a16="http://schemas.microsoft.com/office/drawing/2014/main" id="{FD0807AE-5C1E-5969-76DD-5ADAD3FDDBB6}"/>
              </a:ext>
            </a:extLst>
          </p:cNvPr>
          <p:cNvSpPr>
            <a:spLocks noGrp="1"/>
          </p:cNvSpPr>
          <p:nvPr>
            <p:ph type="dt" sz="half" idx="10"/>
          </p:nvPr>
        </p:nvSpPr>
        <p:spPr/>
        <p:txBody>
          <a:bodyPr/>
          <a:lstStyle/>
          <a:p>
            <a:fld id="{9907665B-F251-4894-9301-826ABB704F11}" type="datetime1">
              <a:rPr lang="en-US" smtClean="0"/>
              <a:t>8/10/2023</a:t>
            </a:fld>
            <a:endParaRPr lang="en-US"/>
          </a:p>
        </p:txBody>
      </p:sp>
      <p:sp>
        <p:nvSpPr>
          <p:cNvPr id="5" name="Segnaposto piè di pagina 4">
            <a:extLst>
              <a:ext uri="{FF2B5EF4-FFF2-40B4-BE49-F238E27FC236}">
                <a16:creationId xmlns:a16="http://schemas.microsoft.com/office/drawing/2014/main" id="{F447841E-238D-0FB6-1E27-9B9594EFD802}"/>
              </a:ext>
            </a:extLst>
          </p:cNvPr>
          <p:cNvSpPr>
            <a:spLocks noGrp="1"/>
          </p:cNvSpPr>
          <p:nvPr>
            <p:ph type="ftr" sz="quarter" idx="11"/>
          </p:nvPr>
        </p:nvSpPr>
        <p:spPr/>
        <p:txBody>
          <a:bodyPr/>
          <a:lstStyle/>
          <a:p>
            <a:r>
              <a:rPr lang="it-IT"/>
              <a:t>Decreto 1° agosto 2023 patrocinio: Formatore Carlo Alberto Calcagno ©</a:t>
            </a:r>
            <a:endParaRPr lang="en-US"/>
          </a:p>
        </p:txBody>
      </p:sp>
      <p:sp>
        <p:nvSpPr>
          <p:cNvPr id="6" name="Segnaposto numero diapositiva 5">
            <a:extLst>
              <a:ext uri="{FF2B5EF4-FFF2-40B4-BE49-F238E27FC236}">
                <a16:creationId xmlns:a16="http://schemas.microsoft.com/office/drawing/2014/main" id="{5B745104-2B0F-9844-3544-55D860293379}"/>
              </a:ext>
            </a:extLst>
          </p:cNvPr>
          <p:cNvSpPr>
            <a:spLocks noGrp="1"/>
          </p:cNvSpPr>
          <p:nvPr>
            <p:ph type="sldNum" sz="quarter" idx="12"/>
          </p:nvPr>
        </p:nvSpPr>
        <p:spPr/>
        <p:txBody>
          <a:bodyPr/>
          <a:lstStyle/>
          <a:p>
            <a:fld id="{5DEF7F31-0B8A-474A-B86C-91F381754329}" type="slidenum">
              <a:rPr lang="en-US" smtClean="0"/>
              <a:t>19</a:t>
            </a:fld>
            <a:endParaRPr lang="en-US"/>
          </a:p>
        </p:txBody>
      </p:sp>
    </p:spTree>
    <p:extLst>
      <p:ext uri="{BB962C8B-B14F-4D97-AF65-F5344CB8AC3E}">
        <p14:creationId xmlns:p14="http://schemas.microsoft.com/office/powerpoint/2010/main" val="493642855"/>
      </p:ext>
    </p:extLst>
  </p:cSld>
  <p:clrMapOvr>
    <a:masterClrMapping/>
  </p:clrMapOvr>
</p:sld>
</file>

<file path=ppt/theme/theme1.xml><?xml version="1.0" encoding="utf-8"?>
<a:theme xmlns:a="http://schemas.openxmlformats.org/drawingml/2006/main" name="BlocksVTI">
  <a:themeElements>
    <a:clrScheme name="Blocks">
      <a:dk1>
        <a:sysClr val="windowText" lastClr="000000"/>
      </a:dk1>
      <a:lt1>
        <a:sysClr val="window" lastClr="FFFFFF"/>
      </a:lt1>
      <a:dk2>
        <a:srgbClr val="1B3843"/>
      </a:dk2>
      <a:lt2>
        <a:srgbClr val="F2F3F1"/>
      </a:lt2>
      <a:accent1>
        <a:srgbClr val="7A8592"/>
      </a:accent1>
      <a:accent2>
        <a:srgbClr val="8C8C96"/>
      </a:accent2>
      <a:accent3>
        <a:srgbClr val="7A6C76"/>
      </a:accent3>
      <a:accent4>
        <a:srgbClr val="A7AA9D"/>
      </a:accent4>
      <a:accent5>
        <a:srgbClr val="63787F"/>
      </a:accent5>
      <a:accent6>
        <a:srgbClr val="889DA5"/>
      </a:accent6>
      <a:hlink>
        <a:srgbClr val="71819B"/>
      </a:hlink>
      <a:folHlink>
        <a:srgbClr val="7E8B85"/>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sVTI" id="{31656FE6-20D8-4105-85EA-706EC9332BE9}" vid="{039DFFC9-9B25-4063-9235-B287A446F509}"/>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3292</Words>
  <Application>Microsoft Office PowerPoint</Application>
  <PresentationFormat>Widescreen</PresentationFormat>
  <Paragraphs>158</Paragraphs>
  <Slides>19</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19</vt:i4>
      </vt:variant>
    </vt:vector>
  </HeadingPairs>
  <TitlesOfParts>
    <vt:vector size="24" baseType="lpstr">
      <vt:lpstr>Arial</vt:lpstr>
      <vt:lpstr>Avenir Next LT Pro</vt:lpstr>
      <vt:lpstr>Avenir Next LT Pro Light</vt:lpstr>
      <vt:lpstr>Calibri</vt:lpstr>
      <vt:lpstr>BlocksVTI</vt:lpstr>
      <vt:lpstr>Determinazione, liquidazione e pagamento, anche mediante riconoscimento di credito di imposta, dell'onorario spettante all'avvocato della parte ammessa al patrocinio a spese dello Stato nei casi previsti dagli articoli 5, comma 1, e 5-quater, del decreto legislativo 4 marzo 2010, n. 28 e dall'articolo 3 del decreto-legge 12 settembre 2014, n. 132, convertito, con modificazioni, dalla legge 10 novembre 2014, n. 162. (23A04556)  </vt:lpstr>
      <vt:lpstr>Capo I Disposizioni generali </vt:lpstr>
      <vt:lpstr>Art. 2 c. 1 lett. a-i</vt:lpstr>
      <vt:lpstr>Art. 2 c. 1 lett. l-v</vt:lpstr>
      <vt:lpstr>Art. 3</vt:lpstr>
      <vt:lpstr>     Sezione I Determinazione del compenso spettante all'avvocato della parte ammessa al patrocinio a spese dello Stato per l'assistenza prestata nelle procedure di mediazione e di negoziazione assistita che si sono concluse con un accordo, procedura di riconoscimento e presentazione della domanda di attribuzione del credito di imposta</vt:lpstr>
      <vt:lpstr>Art. 4</vt:lpstr>
      <vt:lpstr>Art. 5 c. 1 lett. a-e</vt:lpstr>
      <vt:lpstr>Art. 5 c. 1 lett. f-e </vt:lpstr>
      <vt:lpstr>Art. 6  </vt:lpstr>
      <vt:lpstr>Art. 7  </vt:lpstr>
      <vt:lpstr>Art. 8</vt:lpstr>
      <vt:lpstr>Art. 9</vt:lpstr>
      <vt:lpstr>Art. 10</vt:lpstr>
      <vt:lpstr>Art. 11</vt:lpstr>
      <vt:lpstr>Art. 12</vt:lpstr>
      <vt:lpstr>Art. 13</vt:lpstr>
      <vt:lpstr>Art. 14</vt:lpstr>
      <vt:lpstr>Art.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
  <cp:lastModifiedBy>Carlo Alberto Calcagno</cp:lastModifiedBy>
  <cp:revision>25</cp:revision>
  <dcterms:created xsi:type="dcterms:W3CDTF">2022-01-17T11:39:55Z</dcterms:created>
  <dcterms:modified xsi:type="dcterms:W3CDTF">2023-08-10T19:09:10Z</dcterms:modified>
</cp:coreProperties>
</file>